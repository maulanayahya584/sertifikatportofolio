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5113000" cy="10693400"/>
  <p:notesSz cx="6858000" cy="9144000"/>
  <p:embeddedFontLst>
    <p:embeddedFont>
      <p:font typeface="Jimmy Script" pitchFamily="2" charset="0"/>
      <p:regular r:id="rId10"/>
    </p:embeddedFont>
    <p:embeddedFont>
      <p:font typeface="Poppins" panose="020B0502040504020204" pitchFamily="34" charset="0"/>
      <p:regular r:id="rId11"/>
    </p:embeddedFont>
    <p:embeddedFont>
      <p:font typeface="Poppins Bold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157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F4EBA-A370-4B4D-83DF-46DA69BBF49F}" type="datetimeFigureOut">
              <a:rPr lang="en-ID" smtClean="0"/>
              <a:t>29/09/2025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05FF3-E057-44CC-96BD-812913673A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406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05FF3-E057-44CC-96BD-812913673A19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249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1075" y="393700"/>
            <a:ext cx="14497850" cy="10008820"/>
            <a:chOff x="0" y="0"/>
            <a:chExt cx="5195702" cy="35869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95702" cy="3586935"/>
            </a:xfrm>
            <a:custGeom>
              <a:avLst/>
              <a:gdLst/>
              <a:ahLst/>
              <a:cxnLst/>
              <a:rect l="l" t="t" r="r" b="b"/>
              <a:pathLst>
                <a:path w="5195702" h="3586935">
                  <a:moveTo>
                    <a:pt x="0" y="0"/>
                  </a:moveTo>
                  <a:lnTo>
                    <a:pt x="5195702" y="0"/>
                  </a:lnTo>
                  <a:lnTo>
                    <a:pt x="5195702" y="3586935"/>
                  </a:lnTo>
                  <a:lnTo>
                    <a:pt x="0" y="35869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A4A4C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95702" cy="3625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26578" y="3161530"/>
            <a:ext cx="695315" cy="4368939"/>
            <a:chOff x="0" y="0"/>
            <a:chExt cx="176192" cy="11070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6192" cy="1107081"/>
            </a:xfrm>
            <a:custGeom>
              <a:avLst/>
              <a:gdLst/>
              <a:ahLst/>
              <a:cxnLst/>
              <a:rect l="l" t="t" r="r" b="b"/>
              <a:pathLst>
                <a:path w="176192" h="1107081">
                  <a:moveTo>
                    <a:pt x="0" y="0"/>
                  </a:moveTo>
                  <a:lnTo>
                    <a:pt x="176192" y="0"/>
                  </a:lnTo>
                  <a:lnTo>
                    <a:pt x="176192" y="1107081"/>
                  </a:lnTo>
                  <a:lnTo>
                    <a:pt x="0" y="1107081"/>
                  </a:lnTo>
                  <a:close/>
                </a:path>
              </a:pathLst>
            </a:custGeom>
            <a:solidFill>
              <a:srgbClr val="A4A4C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6192" cy="1145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398540" y="3965894"/>
            <a:ext cx="7552127" cy="268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0"/>
              </a:lnSpc>
              <a:spcBef>
                <a:spcPct val="0"/>
              </a:spcBef>
            </a:pPr>
            <a:r>
              <a:rPr lang="en-US" sz="14893" b="1" spc="-1117" dirty="0">
                <a:solidFill>
                  <a:srgbClr val="67678B"/>
                </a:solidFill>
                <a:latin typeface="Poppins Bold"/>
                <a:ea typeface="Poppins Bold"/>
                <a:cs typeface="Poppins Bold"/>
                <a:sym typeface="Poppins Bold"/>
              </a:rPr>
              <a:t>Portfolio.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9200" y="1012050"/>
            <a:ext cx="2019777" cy="39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205">
                <a:solidFill>
                  <a:srgbClr val="67678B"/>
                </a:solidFill>
                <a:latin typeface="Poppins"/>
                <a:ea typeface="Poppins"/>
                <a:cs typeface="Poppins"/>
                <a:sym typeface="Poppins"/>
              </a:rPr>
              <a:t>Liceria &amp; co.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9200" y="9231150"/>
            <a:ext cx="4909564" cy="39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205">
                <a:solidFill>
                  <a:srgbClr val="67678B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75900" y="9231150"/>
            <a:ext cx="3674900" cy="377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087"/>
              </a:lnSpc>
            </a:pPr>
            <a:r>
              <a:rPr lang="en-US" sz="2205" dirty="0">
                <a:solidFill>
                  <a:srgbClr val="67678B"/>
                </a:solidFill>
                <a:latin typeface="Poppins"/>
                <a:ea typeface="Poppins"/>
                <a:cs typeface="Poppins"/>
                <a:sym typeface="Poppins"/>
              </a:rPr>
              <a:t>by : Maulana Yahya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53312" y="1012050"/>
            <a:ext cx="2997488" cy="37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7"/>
              </a:lnSpc>
            </a:pPr>
            <a:r>
              <a:rPr lang="en-US" sz="2205" dirty="0">
                <a:solidFill>
                  <a:srgbClr val="67678B"/>
                </a:solidFill>
                <a:latin typeface="Poppins"/>
                <a:ea typeface="Poppins"/>
                <a:cs typeface="Poppins"/>
                <a:sym typeface="Poppins"/>
              </a:rPr>
              <a:t>SEPTEMBER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146F0-2AAB-D8B2-5A20-959FDAEACC7F}"/>
              </a:ext>
            </a:extLst>
          </p:cNvPr>
          <p:cNvSpPr txBox="1"/>
          <p:nvPr/>
        </p:nvSpPr>
        <p:spPr>
          <a:xfrm>
            <a:off x="5651500" y="774700"/>
            <a:ext cx="4067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>
                <a:solidFill>
                  <a:schemeClr val="accent4">
                    <a:lumMod val="75000"/>
                  </a:schemeClr>
                </a:solidFill>
              </a:rPr>
              <a:t>MOTIVATION </a:t>
            </a: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LATER</a:t>
            </a:r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endParaRPr lang="en-ID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5DF6A-D26C-8B36-2F54-AA9EE04E55A1}"/>
              </a:ext>
            </a:extLst>
          </p:cNvPr>
          <p:cNvSpPr txBox="1"/>
          <p:nvPr/>
        </p:nvSpPr>
        <p:spPr>
          <a:xfrm>
            <a:off x="955887" y="1765300"/>
            <a:ext cx="1426082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800" dirty="0" err="1"/>
              <a:t>Perkenalkan</a:t>
            </a:r>
            <a:r>
              <a:rPr lang="en-US" sz="2800" dirty="0"/>
              <a:t> nama </a:t>
            </a:r>
            <a:r>
              <a:rPr lang="en-US" sz="2800" dirty="0" err="1"/>
              <a:t>saya</a:t>
            </a:r>
            <a:r>
              <a:rPr lang="en-US" sz="2800" dirty="0"/>
              <a:t> Maulana Yahya,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lulusan</a:t>
            </a:r>
            <a:r>
              <a:rPr lang="en-US" sz="2800" dirty="0"/>
              <a:t> </a:t>
            </a:r>
            <a:r>
              <a:rPr lang="en-US" sz="2800" dirty="0" err="1"/>
              <a:t>fakultas</a:t>
            </a:r>
            <a:r>
              <a:rPr lang="en-US" sz="2800" dirty="0"/>
              <a:t> </a:t>
            </a:r>
            <a:r>
              <a:rPr lang="en-US" sz="2800" dirty="0" err="1"/>
              <a:t>ekonomi</a:t>
            </a:r>
            <a:r>
              <a:rPr lang="en-US" sz="2800" dirty="0"/>
              <a:t> Universitas </a:t>
            </a:r>
          </a:p>
          <a:p>
            <a:pPr algn="just"/>
            <a:r>
              <a:rPr lang="en-US" sz="2800" dirty="0" err="1"/>
              <a:t>Pamulang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kosentrasi</a:t>
            </a:r>
            <a:r>
              <a:rPr lang="en-US" sz="2800" dirty="0"/>
              <a:t> </a:t>
            </a:r>
            <a:r>
              <a:rPr lang="en-US" sz="2800" dirty="0" err="1"/>
              <a:t>manajemen</a:t>
            </a:r>
            <a:r>
              <a:rPr lang="en-US" sz="2800" dirty="0"/>
              <a:t> </a:t>
            </a:r>
            <a:r>
              <a:rPr lang="en-US" sz="2800" dirty="0" err="1"/>
              <a:t>keuangan</a:t>
            </a:r>
            <a:r>
              <a:rPr lang="en-US" sz="2800" dirty="0"/>
              <a:t>. Saya </a:t>
            </a:r>
            <a:r>
              <a:rPr lang="en-US" sz="2800" dirty="0" err="1"/>
              <a:t>memilik</a:t>
            </a:r>
            <a:r>
              <a:rPr lang="en-US" sz="2800" dirty="0"/>
              <a:t> </a:t>
            </a:r>
            <a:r>
              <a:rPr lang="en-US" sz="2800" dirty="0" err="1"/>
              <a:t>kemampuan</a:t>
            </a:r>
            <a:r>
              <a:rPr lang="en-US" sz="2800" dirty="0"/>
              <a:t> </a:t>
            </a:r>
            <a:r>
              <a:rPr lang="en-US" sz="2800" dirty="0" err="1"/>
              <a:t>dasar</a:t>
            </a:r>
            <a:r>
              <a:rPr lang="en-US" sz="2800" dirty="0"/>
              <a:t> </a:t>
            </a:r>
          </a:p>
          <a:p>
            <a:pPr algn="just"/>
            <a:r>
              <a:rPr lang="en-US" sz="2800" dirty="0" err="1"/>
              <a:t>terutama</a:t>
            </a:r>
            <a:r>
              <a:rPr lang="en-US" sz="2800" dirty="0"/>
              <a:t> yang </a:t>
            </a:r>
            <a:r>
              <a:rPr lang="en-US" sz="2800" dirty="0" err="1"/>
              <a:t>berkaitan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FP&amp;A  </a:t>
            </a: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dirty="0" err="1"/>
              <a:t>penyusunan</a:t>
            </a:r>
            <a:r>
              <a:rPr lang="en-US" sz="2800" dirty="0"/>
              <a:t> </a:t>
            </a:r>
            <a:r>
              <a:rPr lang="en-US" sz="2800" dirty="0" err="1"/>
              <a:t>anggaran</a:t>
            </a:r>
            <a:r>
              <a:rPr lang="en-US" sz="2800" dirty="0"/>
              <a:t>, </a:t>
            </a:r>
            <a:r>
              <a:rPr lang="en-US" sz="2800" dirty="0" err="1"/>
              <a:t>peramalan</a:t>
            </a:r>
            <a:r>
              <a:rPr lang="en-US" sz="2800" dirty="0"/>
              <a:t>, </a:t>
            </a:r>
            <a:r>
              <a:rPr lang="en-US" sz="2800" dirty="0" err="1"/>
              <a:t>pelaporan</a:t>
            </a:r>
            <a:r>
              <a:rPr lang="en-US" sz="2800" dirty="0"/>
              <a:t> </a:t>
            </a:r>
          </a:p>
          <a:p>
            <a:pPr algn="just"/>
            <a:r>
              <a:rPr lang="en-US" sz="2800" dirty="0" err="1"/>
              <a:t>keuangan</a:t>
            </a:r>
            <a:r>
              <a:rPr lang="en-US" sz="2800" dirty="0"/>
              <a:t>, </a:t>
            </a:r>
            <a:r>
              <a:rPr lang="en-US" sz="2800" dirty="0" err="1"/>
              <a:t>analisa</a:t>
            </a:r>
            <a:r>
              <a:rPr lang="en-US" sz="2800" dirty="0"/>
              <a:t> </a:t>
            </a:r>
            <a:r>
              <a:rPr lang="en-US" sz="2800" dirty="0" err="1"/>
              <a:t>laporan</a:t>
            </a:r>
            <a:r>
              <a:rPr lang="en-US" sz="2800" dirty="0"/>
              <a:t> </a:t>
            </a:r>
            <a:r>
              <a:rPr lang="en-US" sz="2800" dirty="0" err="1"/>
              <a:t>keuangan</a:t>
            </a:r>
            <a:r>
              <a:rPr lang="en-US" sz="2800" dirty="0"/>
              <a:t>, Microsoft Excel dan financial modeling.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kemampuan</a:t>
            </a:r>
            <a:r>
              <a:rPr lang="en-US" sz="2800" dirty="0"/>
              <a:t> yang </a:t>
            </a:r>
            <a:r>
              <a:rPr lang="en-US" sz="2800" dirty="0" err="1"/>
              <a:t>ditulis</a:t>
            </a:r>
            <a:r>
              <a:rPr lang="en-US" sz="2800" dirty="0"/>
              <a:t>, </a:t>
            </a:r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berkeinginan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berkair</a:t>
            </a:r>
            <a:r>
              <a:rPr lang="en-US" sz="2800" dirty="0"/>
              <a:t> </a:t>
            </a:r>
            <a:r>
              <a:rPr lang="en-US" sz="2800" dirty="0" err="1"/>
              <a:t>dibidang</a:t>
            </a:r>
            <a:r>
              <a:rPr lang="en-US" sz="2800" dirty="0"/>
              <a:t> FP&amp;A. </a:t>
            </a:r>
          </a:p>
          <a:p>
            <a:pPr algn="just"/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mencapai</a:t>
            </a:r>
            <a:r>
              <a:rPr lang="en-US" sz="2800" dirty="0"/>
              <a:t> </a:t>
            </a:r>
            <a:r>
              <a:rPr lang="en-US" sz="2800" dirty="0" err="1"/>
              <a:t>hal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selain</a:t>
            </a:r>
            <a:r>
              <a:rPr lang="en-US" sz="2800" dirty="0"/>
              <a:t> </a:t>
            </a:r>
            <a:r>
              <a:rPr lang="en-US" sz="2800" dirty="0" err="1"/>
              <a:t>kuliah</a:t>
            </a:r>
            <a:r>
              <a:rPr lang="en-US" sz="2800" dirty="0"/>
              <a:t> juga </a:t>
            </a:r>
            <a:r>
              <a:rPr lang="en-US" sz="2800" dirty="0" err="1"/>
              <a:t>mengikuti</a:t>
            </a:r>
            <a:r>
              <a:rPr lang="en-US" sz="2800" dirty="0"/>
              <a:t> </a:t>
            </a:r>
            <a:r>
              <a:rPr lang="en-US" sz="2800" dirty="0" err="1"/>
              <a:t>pelatihan</a:t>
            </a:r>
            <a:r>
              <a:rPr lang="en-US" sz="2800" dirty="0"/>
              <a:t>, </a:t>
            </a:r>
            <a:r>
              <a:rPr lang="en-US" sz="2800" dirty="0" err="1"/>
              <a:t>membaca</a:t>
            </a:r>
            <a:r>
              <a:rPr lang="en-US" sz="2800" dirty="0"/>
              <a:t> </a:t>
            </a:r>
            <a:r>
              <a:rPr lang="en-US" sz="2800" dirty="0" err="1"/>
              <a:t>buku</a:t>
            </a:r>
            <a:r>
              <a:rPr lang="en-US" sz="2800" dirty="0"/>
              <a:t>, </a:t>
            </a:r>
          </a:p>
          <a:p>
            <a:pPr algn="just"/>
            <a:r>
              <a:rPr lang="en-US" sz="2800" dirty="0" err="1"/>
              <a:t>latiahan</a:t>
            </a:r>
            <a:r>
              <a:rPr lang="en-US" sz="2800" dirty="0"/>
              <a:t> </a:t>
            </a:r>
            <a:r>
              <a:rPr lang="en-US" sz="2800" dirty="0" err="1"/>
              <a:t>soal</a:t>
            </a:r>
            <a:r>
              <a:rPr lang="en-US" sz="2800" dirty="0"/>
              <a:t> </a:t>
            </a:r>
            <a:r>
              <a:rPr lang="en-US" sz="2800" dirty="0" err="1"/>
              <a:t>mandiri</a:t>
            </a:r>
            <a:r>
              <a:rPr lang="en-US" sz="2800" dirty="0"/>
              <a:t> dan </a:t>
            </a:r>
            <a:r>
              <a:rPr lang="en-US" sz="2800" dirty="0" err="1"/>
              <a:t>melakukan</a:t>
            </a:r>
            <a:r>
              <a:rPr lang="en-US" sz="2800" dirty="0"/>
              <a:t> </a:t>
            </a:r>
            <a:r>
              <a:rPr lang="en-US" sz="2800" dirty="0" err="1"/>
              <a:t>riset</a:t>
            </a:r>
            <a:r>
              <a:rPr lang="en-US" sz="2800" dirty="0"/>
              <a:t> </a:t>
            </a:r>
            <a:r>
              <a:rPr lang="en-US" sz="2800" dirty="0" err="1"/>
              <a:t>mengenai</a:t>
            </a:r>
            <a:r>
              <a:rPr lang="en-US" sz="2800" dirty="0"/>
              <a:t> </a:t>
            </a:r>
            <a:r>
              <a:rPr lang="en-US" sz="2800" dirty="0" err="1"/>
              <a:t>posisi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. Dalam lima </a:t>
            </a:r>
            <a:r>
              <a:rPr lang="en-US" sz="2800" dirty="0" err="1"/>
              <a:t>tahun</a:t>
            </a:r>
            <a:r>
              <a:rPr lang="en-US" sz="2800" dirty="0"/>
              <a:t> </a:t>
            </a:r>
            <a:r>
              <a:rPr lang="en-US" sz="2800" dirty="0" err="1"/>
              <a:t>lagi</a:t>
            </a:r>
            <a:r>
              <a:rPr lang="en-US" sz="2800" dirty="0"/>
              <a:t> </a:t>
            </a:r>
            <a:r>
              <a:rPr lang="en-US" sz="2800" dirty="0" err="1"/>
              <a:t>saya</a:t>
            </a:r>
            <a:endParaRPr lang="en-US" sz="2800" dirty="0"/>
          </a:p>
          <a:p>
            <a:pPr algn="just"/>
            <a:r>
              <a:rPr lang="en-US" sz="2800" dirty="0"/>
              <a:t>m</a:t>
            </a:r>
            <a:r>
              <a:rPr lang="en-US" sz="2800"/>
              <a:t>elihat</a:t>
            </a:r>
            <a:r>
              <a:rPr lang="en-US" sz="2800" dirty="0"/>
              <a:t> </a:t>
            </a:r>
            <a:r>
              <a:rPr lang="en-US" sz="2800" dirty="0" err="1"/>
              <a:t>diri</a:t>
            </a:r>
            <a:r>
              <a:rPr lang="en-US" sz="2800" dirty="0"/>
              <a:t> </a:t>
            </a:r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FP&amp;A yang </a:t>
            </a:r>
            <a:r>
              <a:rPr lang="en-US" sz="2800" dirty="0" err="1"/>
              <a:t>hebat</a:t>
            </a:r>
            <a:r>
              <a:rPr lang="en-US" sz="2800" dirty="0"/>
              <a:t> yang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membantu</a:t>
            </a:r>
            <a:r>
              <a:rPr lang="en-US" sz="2800" dirty="0"/>
              <a:t> </a:t>
            </a:r>
            <a:r>
              <a:rPr lang="en-US" sz="2800" dirty="0" err="1"/>
              <a:t>perusahaan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berke</a:t>
            </a:r>
            <a:r>
              <a:rPr lang="en-US" sz="2800" dirty="0"/>
              <a:t>-</a:t>
            </a:r>
          </a:p>
          <a:p>
            <a:pPr algn="just"/>
            <a:r>
              <a:rPr lang="en-US" sz="2800" dirty="0" err="1"/>
              <a:t>mbang</a:t>
            </a:r>
            <a:r>
              <a:rPr lang="en-US" sz="2800" dirty="0"/>
              <a:t> </a:t>
            </a:r>
            <a:r>
              <a:rPr lang="en-US" sz="2800" dirty="0" err="1"/>
              <a:t>kearah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prospek</a:t>
            </a:r>
            <a:r>
              <a:rPr lang="en-US" sz="2800" dirty="0"/>
              <a:t> yang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baik</a:t>
            </a:r>
            <a:r>
              <a:rPr lang="en-US" sz="2800" dirty="0"/>
              <a:t> </a:t>
            </a:r>
            <a:r>
              <a:rPr lang="en-US" sz="2800" dirty="0" err="1"/>
              <a:t>lagi</a:t>
            </a:r>
            <a:r>
              <a:rPr lang="en-US" sz="2800" dirty="0"/>
              <a:t>.</a:t>
            </a:r>
            <a:endParaRPr lang="en-ID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3C6AB-220C-293C-CFE4-EFF2B07038FF}"/>
              </a:ext>
            </a:extLst>
          </p:cNvPr>
          <p:cNvSpPr txBox="1"/>
          <p:nvPr/>
        </p:nvSpPr>
        <p:spPr>
          <a:xfrm>
            <a:off x="5651500" y="622300"/>
            <a:ext cx="3927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STUDENT CONTENT</a:t>
            </a:r>
            <a:endParaRPr lang="en-ID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03635-D32A-25F5-D8A8-BFC5365DA963}"/>
              </a:ext>
            </a:extLst>
          </p:cNvPr>
          <p:cNvSpPr txBox="1"/>
          <p:nvPr/>
        </p:nvSpPr>
        <p:spPr>
          <a:xfrm>
            <a:off x="1113692" y="1460500"/>
            <a:ext cx="13615412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Formula Excel :</a:t>
            </a:r>
          </a:p>
          <a:p>
            <a:endParaRPr lang="en-US" sz="2400" dirty="0"/>
          </a:p>
          <a:p>
            <a:r>
              <a:rPr lang="en-US" sz="2400" b="1" dirty="0"/>
              <a:t>SUM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penjumlahan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pada </a:t>
            </a:r>
            <a:r>
              <a:rPr lang="en-US" sz="2400" dirty="0" err="1"/>
              <a:t>suatu</a:t>
            </a:r>
            <a:r>
              <a:rPr lang="en-US" sz="2400" dirty="0"/>
              <a:t> range.</a:t>
            </a:r>
          </a:p>
          <a:p>
            <a:r>
              <a:rPr lang="en-US" sz="2400" b="1" dirty="0"/>
              <a:t>SUMIF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menjumlahkan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range yang</a:t>
            </a:r>
          </a:p>
          <a:p>
            <a:r>
              <a:rPr lang="en-US" sz="2400" dirty="0" err="1"/>
              <a:t>memenuhi</a:t>
            </a:r>
            <a:r>
              <a:rPr lang="en-US" sz="2400" dirty="0"/>
              <a:t> </a:t>
            </a:r>
            <a:r>
              <a:rPr lang="en-US" sz="2400" dirty="0" err="1"/>
              <a:t>kriteria</a:t>
            </a:r>
            <a:r>
              <a:rPr lang="en-US" sz="2400" dirty="0"/>
              <a:t> yang </a:t>
            </a:r>
            <a:r>
              <a:rPr lang="en-US" sz="2400" dirty="0" err="1"/>
              <a:t>ditentukan</a:t>
            </a:r>
            <a:endParaRPr lang="en-US" sz="2400" dirty="0"/>
          </a:p>
          <a:p>
            <a:r>
              <a:rPr lang="en-US" sz="2400" b="1" dirty="0"/>
              <a:t>SUMIFS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menjumlahkan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pada range yang </a:t>
            </a:r>
            <a:r>
              <a:rPr lang="en-US" sz="2400" dirty="0" err="1"/>
              <a:t>memenuhi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kriteria</a:t>
            </a:r>
            <a:endParaRPr lang="en-US" sz="2400" dirty="0"/>
          </a:p>
          <a:p>
            <a:r>
              <a:rPr lang="en-US" sz="2400" b="1" dirty="0"/>
              <a:t>MAX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</a:t>
            </a:r>
            <a:r>
              <a:rPr lang="en-US" sz="2400" dirty="0" err="1"/>
              <a:t>tertinggi</a:t>
            </a:r>
            <a:r>
              <a:rPr lang="en-US" sz="2400" dirty="0"/>
              <a:t> yang </a:t>
            </a:r>
            <a:r>
              <a:rPr lang="en-US" sz="2400" dirty="0" err="1"/>
              <a:t>terdapat</a:t>
            </a:r>
            <a:r>
              <a:rPr lang="en-US" sz="2400" dirty="0"/>
              <a:t> pada </a:t>
            </a:r>
            <a:r>
              <a:rPr lang="en-US" sz="2400" dirty="0" err="1"/>
              <a:t>suatu</a:t>
            </a:r>
            <a:r>
              <a:rPr lang="en-US" sz="2400" dirty="0"/>
              <a:t> range</a:t>
            </a:r>
          </a:p>
          <a:p>
            <a:r>
              <a:rPr lang="en-US" sz="2400" b="1" dirty="0"/>
              <a:t>SMALL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data </a:t>
            </a:r>
            <a:r>
              <a:rPr lang="en-US" sz="2400" dirty="0" err="1"/>
              <a:t>terendah</a:t>
            </a:r>
            <a:r>
              <a:rPr lang="en-US" sz="2400" dirty="0"/>
              <a:t> pada </a:t>
            </a:r>
            <a:r>
              <a:rPr lang="en-US" sz="2400" dirty="0" err="1"/>
              <a:t>urutan</a:t>
            </a:r>
            <a:r>
              <a:rPr lang="en-US" sz="2400" dirty="0"/>
              <a:t> </a:t>
            </a:r>
            <a:r>
              <a:rPr lang="en-US" sz="2400" dirty="0" err="1"/>
              <a:t>tertentu</a:t>
            </a:r>
            <a:r>
              <a:rPr lang="en-US" sz="2400" dirty="0"/>
              <a:t>.</a:t>
            </a:r>
          </a:p>
          <a:p>
            <a:r>
              <a:rPr lang="en-US" sz="2400" b="1" dirty="0"/>
              <a:t>IF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(TRUE) </a:t>
            </a:r>
            <a:r>
              <a:rPr lang="en-US" sz="2400" dirty="0" err="1"/>
              <a:t>atau</a:t>
            </a:r>
            <a:r>
              <a:rPr lang="en-US" sz="2400" dirty="0"/>
              <a:t> salah (FALSE)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kriteria</a:t>
            </a:r>
            <a:r>
              <a:rPr lang="en-US" sz="2400" dirty="0"/>
              <a:t> yang </a:t>
            </a:r>
            <a:r>
              <a:rPr lang="en-US" sz="2400" dirty="0" err="1"/>
              <a:t>ditentukan</a:t>
            </a:r>
            <a:r>
              <a:rPr lang="en-US" sz="2400" dirty="0"/>
              <a:t>.</a:t>
            </a:r>
          </a:p>
          <a:p>
            <a:r>
              <a:rPr lang="en-US" sz="2400" b="1" dirty="0"/>
              <a:t>INDEX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menampilkan</a:t>
            </a:r>
            <a:r>
              <a:rPr lang="en-US" sz="2400" dirty="0"/>
              <a:t> </a:t>
            </a:r>
            <a:r>
              <a:rPr lang="en-US" sz="2400" dirty="0" err="1"/>
              <a:t>isi</a:t>
            </a:r>
            <a:r>
              <a:rPr lang="en-US" sz="2400" dirty="0"/>
              <a:t> </a:t>
            </a:r>
            <a:r>
              <a:rPr lang="en-US" sz="2400" dirty="0" err="1"/>
              <a:t>sel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range database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nomor</a:t>
            </a:r>
            <a:r>
              <a:rPr lang="en-US" sz="2400" dirty="0"/>
              <a:t> </a:t>
            </a:r>
            <a:r>
              <a:rPr lang="en-US" sz="2400" dirty="0" err="1"/>
              <a:t>kolom</a:t>
            </a:r>
            <a:r>
              <a:rPr lang="en-US" sz="2400" dirty="0"/>
              <a:t> dan </a:t>
            </a:r>
            <a:r>
              <a:rPr lang="en-US" sz="2400" dirty="0" err="1"/>
              <a:t>nomor</a:t>
            </a:r>
            <a:r>
              <a:rPr lang="en-US" sz="2400" dirty="0"/>
              <a:t> baris </a:t>
            </a:r>
          </a:p>
          <a:p>
            <a:r>
              <a:rPr lang="en-US" sz="2400" dirty="0"/>
              <a:t>yang </a:t>
            </a:r>
            <a:r>
              <a:rPr lang="en-US" sz="2400" dirty="0" err="1"/>
              <a:t>ditentukan</a:t>
            </a:r>
            <a:endParaRPr lang="en-US" sz="2400" dirty="0"/>
          </a:p>
          <a:p>
            <a:r>
              <a:rPr lang="en-US" sz="2400" b="1" dirty="0"/>
              <a:t>MATCH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menampilkan</a:t>
            </a:r>
            <a:r>
              <a:rPr lang="en-US" sz="2400" dirty="0"/>
              <a:t> </a:t>
            </a:r>
            <a:r>
              <a:rPr lang="en-US" sz="2400" dirty="0" err="1"/>
              <a:t>posisi</a:t>
            </a:r>
            <a:r>
              <a:rPr lang="en-US" sz="2400" dirty="0"/>
              <a:t> salah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array </a:t>
            </a:r>
            <a:r>
              <a:rPr lang="en-US" sz="2400" dirty="0" err="1"/>
              <a:t>atau</a:t>
            </a:r>
            <a:r>
              <a:rPr lang="en-US" sz="2400" dirty="0"/>
              <a:t> salah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sel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endParaRPr lang="en-US" sz="2400" dirty="0"/>
          </a:p>
          <a:p>
            <a:r>
              <a:rPr lang="en-US" sz="2400" dirty="0"/>
              <a:t>range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mencocokan</a:t>
            </a:r>
            <a:r>
              <a:rPr lang="en-US" sz="2400" dirty="0"/>
              <a:t> </a:t>
            </a:r>
            <a:r>
              <a:rPr lang="en-US" sz="2400" dirty="0" err="1"/>
              <a:t>isi</a:t>
            </a:r>
            <a:r>
              <a:rPr lang="en-US" sz="2400" dirty="0"/>
              <a:t> sel.</a:t>
            </a:r>
          </a:p>
          <a:p>
            <a:r>
              <a:rPr lang="en-US" sz="2400" b="1" dirty="0"/>
              <a:t>VLOOKUP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mencari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pada table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vertikaL</a:t>
            </a:r>
            <a:r>
              <a:rPr lang="en-US" sz="2400" dirty="0"/>
              <a:t>.</a:t>
            </a:r>
          </a:p>
          <a:p>
            <a:r>
              <a:rPr lang="en-US" sz="2400" b="1" dirty="0"/>
              <a:t>HLOOKUP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mencari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pada table </a:t>
            </a:r>
            <a:r>
              <a:rPr lang="en-US" sz="2400" dirty="0" err="1"/>
              <a:t>secara</a:t>
            </a:r>
            <a:r>
              <a:rPr lang="en-US" sz="2400" dirty="0"/>
              <a:t> horizontal</a:t>
            </a:r>
          </a:p>
          <a:p>
            <a:endParaRPr lang="en-US" sz="2400" dirty="0"/>
          </a:p>
          <a:p>
            <a:r>
              <a:rPr lang="en-US" sz="2400" b="1" dirty="0"/>
              <a:t>Fitur Excel :</a:t>
            </a:r>
          </a:p>
          <a:p>
            <a:r>
              <a:rPr lang="id-ID" sz="2400" b="1" dirty="0"/>
              <a:t>CONDISIONAL</a:t>
            </a:r>
            <a:r>
              <a:rPr lang="id-ID" sz="2400" dirty="0"/>
              <a:t> </a:t>
            </a:r>
            <a:r>
              <a:rPr lang="id-ID" sz="2400" b="1" dirty="0"/>
              <a:t>FORMATING</a:t>
            </a:r>
            <a:r>
              <a:rPr lang="id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fitur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otomatis</a:t>
            </a:r>
            <a:r>
              <a:rPr lang="en-ID" sz="2400" dirty="0"/>
              <a:t> </a:t>
            </a:r>
            <a:r>
              <a:rPr lang="en-ID" sz="2400" dirty="0" err="1"/>
              <a:t>menerapkan</a:t>
            </a:r>
            <a:r>
              <a:rPr lang="en-ID" sz="2400" dirty="0"/>
              <a:t> form </a:t>
            </a:r>
            <a:r>
              <a:rPr lang="en-ID" sz="2400" dirty="0" err="1"/>
              <a:t>tertentu</a:t>
            </a:r>
            <a:r>
              <a:rPr lang="en-ID" sz="2400" dirty="0"/>
              <a:t> </a:t>
            </a:r>
            <a:r>
              <a:rPr lang="en-ID" sz="2400" dirty="0" err="1"/>
              <a:t>berdasarkan</a:t>
            </a:r>
            <a:r>
              <a:rPr lang="en-ID" sz="2400" dirty="0"/>
              <a:t> </a:t>
            </a:r>
            <a:r>
              <a:rPr lang="en-ID" sz="2400" dirty="0" err="1"/>
              <a:t>kondisi</a:t>
            </a:r>
            <a:r>
              <a:rPr lang="en-ID" sz="2400" dirty="0"/>
              <a:t> yang</a:t>
            </a:r>
            <a:r>
              <a:rPr lang="id-ID" sz="2400"/>
              <a:t> </a:t>
            </a:r>
            <a:r>
              <a:rPr lang="en-ID" sz="2400"/>
              <a:t>diingginkan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diinput</a:t>
            </a:r>
            <a:r>
              <a:rPr lang="en-ID"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E9795-BC2E-238E-783A-15AEEAC2FC9B}"/>
              </a:ext>
            </a:extLst>
          </p:cNvPr>
          <p:cNvSpPr txBox="1"/>
          <p:nvPr/>
        </p:nvSpPr>
        <p:spPr>
          <a:xfrm>
            <a:off x="5651500" y="622300"/>
            <a:ext cx="2519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STUDY CASE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8CFEB-797C-1668-EC22-7CFE1904ADA4}"/>
              </a:ext>
            </a:extLst>
          </p:cNvPr>
          <p:cNvSpPr txBox="1"/>
          <p:nvPr/>
        </p:nvSpPr>
        <p:spPr>
          <a:xfrm>
            <a:off x="1384300" y="7782578"/>
            <a:ext cx="13030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</a:t>
            </a:r>
            <a:r>
              <a:rPr lang="en-ID" sz="2000" dirty="0" err="1"/>
              <a:t>kuantitas</a:t>
            </a:r>
            <a:r>
              <a:rPr lang="en-ID" sz="2000" dirty="0"/>
              <a:t> </a:t>
            </a:r>
            <a:r>
              <a:rPr lang="en-ID" sz="2000" dirty="0" err="1"/>
              <a:t>produk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</a:t>
            </a:r>
            <a:r>
              <a:rPr lang="en-US" sz="2000" b="1" dirty="0"/>
              <a:t>SUMIFS($G$5:$G$154;$C$5:$C$154;L$4;$F$5:$F$154;$K5)</a:t>
            </a:r>
            <a:r>
              <a:rPr lang="en-ID" sz="2000" b="1" dirty="0"/>
              <a:t>. </a:t>
            </a:r>
          </a:p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total </a:t>
            </a:r>
            <a:r>
              <a:rPr lang="en-ID" sz="2000" dirty="0" err="1"/>
              <a:t>kuantitas</a:t>
            </a:r>
            <a:r>
              <a:rPr lang="en-ID" sz="2000" dirty="0"/>
              <a:t> </a:t>
            </a:r>
            <a:r>
              <a:rPr lang="en-ID" sz="2000" dirty="0" err="1"/>
              <a:t>produk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 </a:t>
            </a:r>
            <a:r>
              <a:rPr lang="en-ID" sz="2000" b="1" dirty="0"/>
              <a:t>SUM(L5:P5)</a:t>
            </a:r>
            <a:r>
              <a:rPr lang="en-ID" sz="2000" dirty="0"/>
              <a:t>.</a:t>
            </a:r>
          </a:p>
          <a:p>
            <a:endParaRPr lang="en-ID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2FE6C9-064E-473E-7B41-13A4C564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921" y="1928759"/>
            <a:ext cx="4800600" cy="24078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382B91-B0EF-EFAE-5B04-0F7F32829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021" y="5080980"/>
            <a:ext cx="9525000" cy="23751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18839A-CA65-4054-46F7-CFD067206C93}"/>
              </a:ext>
            </a:extLst>
          </p:cNvPr>
          <p:cNvSpPr txBox="1"/>
          <p:nvPr/>
        </p:nvSpPr>
        <p:spPr>
          <a:xfrm>
            <a:off x="7099300" y="2394004"/>
            <a:ext cx="75543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sales person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</a:t>
            </a:r>
          </a:p>
          <a:p>
            <a:r>
              <a:rPr lang="en-ID" sz="2000" b="1" dirty="0"/>
              <a:t>HLOOKUP(C5;'Instruksi &amp; Dataset'!$I$14:$M$15;2;FALSE).</a:t>
            </a:r>
          </a:p>
          <a:p>
            <a:endParaRPr lang="en-ID" sz="2000" dirty="0"/>
          </a:p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nama </a:t>
            </a:r>
            <a:r>
              <a:rPr lang="en-ID" sz="2000" dirty="0" err="1"/>
              <a:t>produk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</a:t>
            </a:r>
            <a:r>
              <a:rPr lang="en-ID" sz="2000" b="1" dirty="0"/>
              <a:t>VLOOKUP(E5;'Instruksi &amp; Dataset'!$H$19:$J$27;2;FALSE).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4B4D3-5F40-47F5-D4D6-8B3BF590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612900"/>
            <a:ext cx="7699908" cy="220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2BF670-210E-8C1B-F4C9-9EDC7C49F0E7}"/>
              </a:ext>
            </a:extLst>
          </p:cNvPr>
          <p:cNvSpPr txBox="1"/>
          <p:nvPr/>
        </p:nvSpPr>
        <p:spPr>
          <a:xfrm>
            <a:off x="8623300" y="2363857"/>
            <a:ext cx="75543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</a:t>
            </a:r>
            <a:r>
              <a:rPr lang="en-ID" sz="2000" dirty="0" err="1"/>
              <a:t>capaian</a:t>
            </a:r>
            <a:r>
              <a:rPr lang="en-ID" sz="2000" dirty="0"/>
              <a:t> target </a:t>
            </a:r>
            <a:r>
              <a:rPr lang="en-ID" sz="2000" dirty="0" err="1"/>
              <a:t>menggunakan</a:t>
            </a:r>
            <a:endParaRPr lang="en-ID" sz="2000" dirty="0"/>
          </a:p>
          <a:p>
            <a:r>
              <a:rPr lang="en-ID" sz="2000" dirty="0" err="1"/>
              <a:t>rumus</a:t>
            </a:r>
            <a:r>
              <a:rPr lang="en-ID" sz="2000" dirty="0"/>
              <a:t> </a:t>
            </a:r>
            <a:r>
              <a:rPr lang="en-ID" sz="2000" b="1" dirty="0"/>
              <a:t>IF(L18&gt;=M18;"Target </a:t>
            </a:r>
            <a:r>
              <a:rPr lang="en-ID" sz="2000" b="1" dirty="0" err="1"/>
              <a:t>Tercapai</a:t>
            </a:r>
            <a:r>
              <a:rPr lang="en-ID" sz="2000" b="1" dirty="0"/>
              <a:t>";"Di </a:t>
            </a:r>
            <a:r>
              <a:rPr lang="en-ID" sz="2000" b="1" dirty="0" err="1"/>
              <a:t>bawah</a:t>
            </a:r>
            <a:r>
              <a:rPr lang="en-ID" sz="2000" b="1" dirty="0"/>
              <a:t> Target")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CD85F-FED5-D682-7770-5B507CF5E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4052523"/>
            <a:ext cx="12420600" cy="15430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F8F56B-8913-456D-E437-9D7E93AEF7B0}"/>
              </a:ext>
            </a:extLst>
          </p:cNvPr>
          <p:cNvSpPr txBox="1"/>
          <p:nvPr/>
        </p:nvSpPr>
        <p:spPr>
          <a:xfrm>
            <a:off x="771964" y="5785731"/>
            <a:ext cx="14341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mengisi</a:t>
            </a:r>
            <a:r>
              <a:rPr lang="en-US" sz="2000" dirty="0"/>
              <a:t> </a:t>
            </a:r>
            <a:r>
              <a:rPr lang="en-US" sz="2000" dirty="0" err="1"/>
              <a:t>pioritas</a:t>
            </a:r>
            <a:r>
              <a:rPr lang="en-US" sz="2000" dirty="0"/>
              <a:t> </a:t>
            </a:r>
            <a:r>
              <a:rPr lang="en-US" sz="2000" dirty="0" err="1"/>
              <a:t>promosi</a:t>
            </a:r>
            <a:r>
              <a:rPr lang="en-US" sz="2000" dirty="0"/>
              <a:t> </a:t>
            </a:r>
            <a:r>
              <a:rPr lang="en-US" sz="2000" dirty="0" err="1"/>
              <a:t>disetiap</a:t>
            </a:r>
            <a:r>
              <a:rPr lang="en-US" sz="2000" dirty="0"/>
              <a:t> </a:t>
            </a:r>
            <a:r>
              <a:rPr lang="en-US" sz="2000" dirty="0" err="1"/>
              <a:t>kota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rumus</a:t>
            </a:r>
            <a:r>
              <a:rPr lang="en-US" sz="2000" dirty="0"/>
              <a:t> </a:t>
            </a:r>
            <a:r>
              <a:rPr lang="en-US" sz="2000" b="1" dirty="0"/>
              <a:t>MAX(INDEX($L$5:$P$12;0;MATCH(L42;$L$4:$P$4;0)))</a:t>
            </a:r>
            <a:endParaRPr lang="en-ID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53FD83-4CE0-34EF-3157-EB90BCCA5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65" y="6470955"/>
            <a:ext cx="5785199" cy="1087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F80625-11DF-88EA-B9E8-2B1A7CFB707A}"/>
              </a:ext>
            </a:extLst>
          </p:cNvPr>
          <p:cNvSpPr txBox="1"/>
          <p:nvPr/>
        </p:nvSpPr>
        <p:spPr>
          <a:xfrm>
            <a:off x="771965" y="7794929"/>
            <a:ext cx="172716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mengisi</a:t>
            </a:r>
            <a:r>
              <a:rPr lang="en-US" sz="2000" dirty="0"/>
              <a:t> </a:t>
            </a:r>
            <a:r>
              <a:rPr lang="en-US" sz="2000" dirty="0" err="1"/>
              <a:t>kota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performa</a:t>
            </a:r>
            <a:r>
              <a:rPr lang="en-US" sz="2000" dirty="0"/>
              <a:t> </a:t>
            </a:r>
            <a:r>
              <a:rPr lang="en-US" sz="2000" dirty="0" err="1"/>
              <a:t>terendah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rumus</a:t>
            </a:r>
            <a:r>
              <a:rPr lang="en-US" sz="2000" dirty="0"/>
              <a:t> </a:t>
            </a:r>
            <a:r>
              <a:rPr lang="en-US" sz="2000" b="1" dirty="0"/>
              <a:t>INDEX($K$18:$K$22;MATCH</a:t>
            </a:r>
          </a:p>
          <a:p>
            <a:r>
              <a:rPr lang="en-US" sz="2000" b="1" dirty="0"/>
              <a:t>(SMALL(($L$18:$L$22);1);$L$18:$L$22;0)). </a:t>
            </a:r>
            <a:endParaRPr lang="en-ID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4A8D1D-9AF0-F9E5-4AD0-76EAA93D1990}"/>
              </a:ext>
            </a:extLst>
          </p:cNvPr>
          <p:cNvSpPr txBox="1"/>
          <p:nvPr/>
        </p:nvSpPr>
        <p:spPr>
          <a:xfrm>
            <a:off x="5651500" y="622300"/>
            <a:ext cx="2519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STUDY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02C4E5-2181-2A5F-4A12-4093FCB3F8C6}"/>
              </a:ext>
            </a:extLst>
          </p:cNvPr>
          <p:cNvSpPr txBox="1"/>
          <p:nvPr/>
        </p:nvSpPr>
        <p:spPr>
          <a:xfrm>
            <a:off x="8649014" y="1710948"/>
            <a:ext cx="85390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</a:t>
            </a:r>
            <a:r>
              <a:rPr lang="en-ID" sz="2000" dirty="0" err="1"/>
              <a:t>realisasi</a:t>
            </a:r>
            <a:r>
              <a:rPr lang="en-ID" sz="2000" dirty="0"/>
              <a:t> </a:t>
            </a:r>
            <a:r>
              <a:rPr lang="en-ID" sz="2000" dirty="0" err="1"/>
              <a:t>penjualan</a:t>
            </a:r>
            <a:r>
              <a:rPr lang="en-ID" sz="2000" dirty="0"/>
              <a:t> </a:t>
            </a:r>
            <a:r>
              <a:rPr lang="en-ID" sz="2000" dirty="0" err="1"/>
              <a:t>mengguanakan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</a:t>
            </a:r>
          </a:p>
          <a:p>
            <a:r>
              <a:rPr lang="en-ID" sz="2000" b="1" dirty="0"/>
              <a:t>SUMIF($C$5:$C$154;K18;$I$5:$I$154)</a:t>
            </a:r>
          </a:p>
        </p:txBody>
      </p:sp>
    </p:spTree>
    <p:extLst>
      <p:ext uri="{BB962C8B-B14F-4D97-AF65-F5344CB8AC3E}">
        <p14:creationId xmlns:p14="http://schemas.microsoft.com/office/powerpoint/2010/main" val="278775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5CF652-BCAB-72C9-FB84-7CC467032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1422225"/>
            <a:ext cx="6392167" cy="1257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22A849-B4AE-1459-F7C5-4F2161911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4292600"/>
            <a:ext cx="2181529" cy="3134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5B5B4A-C250-4B0E-A312-BDFF07FB0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0" y="1784437"/>
            <a:ext cx="5115639" cy="49155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A86D0C-A492-610B-9255-ACE2E3107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840" y="3594100"/>
            <a:ext cx="3924848" cy="41439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05D711-44ED-8F8D-32F8-16E30138AE8C}"/>
              </a:ext>
            </a:extLst>
          </p:cNvPr>
          <p:cNvSpPr txBox="1"/>
          <p:nvPr/>
        </p:nvSpPr>
        <p:spPr>
          <a:xfrm>
            <a:off x="622300" y="7842067"/>
            <a:ext cx="172716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Blok range </a:t>
            </a:r>
            <a:r>
              <a:rPr lang="id-ID" sz="2000" dirty="0"/>
              <a:t>K</a:t>
            </a:r>
            <a:r>
              <a:rPr lang="en-US" sz="2000" dirty="0"/>
              <a:t>18 </a:t>
            </a:r>
            <a:r>
              <a:rPr lang="en-US" sz="2000" dirty="0" err="1"/>
              <a:t>sampai</a:t>
            </a:r>
            <a:r>
              <a:rPr lang="en-US" sz="2000" dirty="0"/>
              <a:t> N22.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Klik</a:t>
            </a:r>
            <a:r>
              <a:rPr lang="en-US" sz="2000" dirty="0"/>
              <a:t> </a:t>
            </a:r>
            <a:r>
              <a:rPr lang="en-US" sz="2000" dirty="0" err="1"/>
              <a:t>Condisional</a:t>
            </a:r>
            <a:r>
              <a:rPr lang="en-US" sz="2000" dirty="0"/>
              <a:t> </a:t>
            </a:r>
            <a:r>
              <a:rPr lang="en-US" sz="2000" dirty="0" err="1"/>
              <a:t>Formating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Klik</a:t>
            </a:r>
            <a:r>
              <a:rPr lang="en-US" sz="2000" dirty="0"/>
              <a:t> New Rule.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Pilih</a:t>
            </a:r>
            <a:r>
              <a:rPr lang="en-US" sz="2000" dirty="0"/>
              <a:t> use a formula to determine which cell to format,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ketikan</a:t>
            </a:r>
            <a:r>
              <a:rPr lang="en-US" sz="2000" dirty="0"/>
              <a:t> formula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diatas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Klik</a:t>
            </a:r>
            <a:r>
              <a:rPr lang="en-US" sz="2000" dirty="0"/>
              <a:t> format </a:t>
            </a:r>
            <a:r>
              <a:rPr lang="en-US" sz="2000" dirty="0" err="1"/>
              <a:t>lalu</a:t>
            </a:r>
            <a:r>
              <a:rPr lang="en-US" sz="2000" dirty="0"/>
              <a:t> fill,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pilih</a:t>
            </a:r>
            <a:r>
              <a:rPr lang="en-US" sz="2000" dirty="0"/>
              <a:t> color </a:t>
            </a:r>
            <a:r>
              <a:rPr lang="en-US" sz="2000" dirty="0" err="1"/>
              <a:t>merah</a:t>
            </a:r>
            <a:r>
              <a:rPr lang="en-US" sz="2000" dirty="0"/>
              <a:t>,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klik</a:t>
            </a:r>
            <a:r>
              <a:rPr lang="en-US" sz="2000" dirty="0"/>
              <a:t> ok </a:t>
            </a:r>
            <a:r>
              <a:rPr lang="en-US" sz="2000" dirty="0" err="1"/>
              <a:t>kembali</a:t>
            </a:r>
            <a:r>
              <a:rPr lang="en-US" sz="2000" dirty="0"/>
              <a:t> </a:t>
            </a:r>
            <a:r>
              <a:rPr lang="en-US" sz="2000" dirty="0" err="1"/>
              <a:t>dijendela</a:t>
            </a:r>
            <a:r>
              <a:rPr lang="en-US" sz="2000" dirty="0"/>
              <a:t> edit </a:t>
            </a:r>
            <a:r>
              <a:rPr lang="en-US" sz="2000" dirty="0" err="1"/>
              <a:t>formating</a:t>
            </a:r>
            <a:r>
              <a:rPr lang="en-US" sz="2000" dirty="0"/>
              <a:t> rule.</a:t>
            </a:r>
            <a:endParaRPr lang="en-ID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1D0D8E-C9C8-6304-BD88-4C47F834F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0728" y="2774835"/>
            <a:ext cx="1151633" cy="11651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252C19-207B-8364-5CAC-6A47A5274EC8}"/>
              </a:ext>
            </a:extLst>
          </p:cNvPr>
          <p:cNvSpPr txBox="1"/>
          <p:nvPr/>
        </p:nvSpPr>
        <p:spPr>
          <a:xfrm>
            <a:off x="1989729" y="2815136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</a:t>
            </a:r>
            <a:endParaRPr lang="en-ID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D8FEB7-79A1-D2A0-9B44-DC539DE5EBA3}"/>
              </a:ext>
            </a:extLst>
          </p:cNvPr>
          <p:cNvSpPr txBox="1"/>
          <p:nvPr/>
        </p:nvSpPr>
        <p:spPr>
          <a:xfrm>
            <a:off x="622300" y="15367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</a:t>
            </a:r>
            <a:endParaRPr lang="en-ID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F31CA8-D2D2-974E-816E-A4555FF85BDB}"/>
              </a:ext>
            </a:extLst>
          </p:cNvPr>
          <p:cNvSpPr txBox="1"/>
          <p:nvPr/>
        </p:nvSpPr>
        <p:spPr>
          <a:xfrm rot="10800000" flipH="1" flipV="1">
            <a:off x="3872507" y="3748583"/>
            <a:ext cx="47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</a:t>
            </a:r>
            <a:endParaRPr lang="en-ID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43581B-19D9-D47B-D47B-6B07C9D16401}"/>
              </a:ext>
            </a:extLst>
          </p:cNvPr>
          <p:cNvSpPr txBox="1"/>
          <p:nvPr/>
        </p:nvSpPr>
        <p:spPr>
          <a:xfrm>
            <a:off x="1231900" y="419050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</a:t>
            </a:r>
            <a:endParaRPr lang="en-ID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224AC-D340-E577-5D0C-D09973226871}"/>
              </a:ext>
            </a:extLst>
          </p:cNvPr>
          <p:cNvSpPr txBox="1"/>
          <p:nvPr/>
        </p:nvSpPr>
        <p:spPr>
          <a:xfrm rot="10800000" flipH="1" flipV="1">
            <a:off x="8043558" y="1819466"/>
            <a:ext cx="47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</a:t>
            </a:r>
            <a:endParaRPr lang="en-ID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B61CFB-2AE0-5883-DA6E-55C9DB5891C9}"/>
              </a:ext>
            </a:extLst>
          </p:cNvPr>
          <p:cNvSpPr txBox="1"/>
          <p:nvPr/>
        </p:nvSpPr>
        <p:spPr>
          <a:xfrm>
            <a:off x="6002878" y="358417"/>
            <a:ext cx="2519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STUDY CASE</a:t>
            </a:r>
          </a:p>
        </p:txBody>
      </p:sp>
    </p:spTree>
    <p:extLst>
      <p:ext uri="{BB962C8B-B14F-4D97-AF65-F5344CB8AC3E}">
        <p14:creationId xmlns:p14="http://schemas.microsoft.com/office/powerpoint/2010/main" val="151005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B9D79402-1209-30BB-2906-4EB5CA267A54}"/>
              </a:ext>
            </a:extLst>
          </p:cNvPr>
          <p:cNvSpPr txBox="1"/>
          <p:nvPr/>
        </p:nvSpPr>
        <p:spPr>
          <a:xfrm>
            <a:off x="3996661" y="3670300"/>
            <a:ext cx="7119677" cy="2442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617"/>
              </a:lnSpc>
              <a:spcBef>
                <a:spcPct val="0"/>
              </a:spcBef>
            </a:pPr>
            <a:r>
              <a:rPr lang="en-US" sz="17000" b="1" dirty="0">
                <a:solidFill>
                  <a:srgbClr val="67678B"/>
                </a:solidFill>
                <a:latin typeface="Jimmy Script"/>
                <a:ea typeface="Jimmy Script"/>
                <a:cs typeface="Jimmy Script"/>
                <a:sym typeface="Jimmy Script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4129610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606</Words>
  <Application>Microsoft Office PowerPoint</Application>
  <PresentationFormat>Kustom</PresentationFormat>
  <Paragraphs>65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8" baseType="lpstr"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Minimalist Creative Portfolio Resume</dc:title>
  <dc:creator>pakuy</dc:creator>
  <cp:lastModifiedBy>Yahya Ppakuy</cp:lastModifiedBy>
  <cp:revision>37</cp:revision>
  <dcterms:created xsi:type="dcterms:W3CDTF">2006-08-16T00:00:00Z</dcterms:created>
  <dcterms:modified xsi:type="dcterms:W3CDTF">2025-09-29T11:10:33Z</dcterms:modified>
  <dc:identifier>DAGvmowKBbQ</dc:identifier>
</cp:coreProperties>
</file>