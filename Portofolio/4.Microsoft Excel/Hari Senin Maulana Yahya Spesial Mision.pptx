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59" r:id="rId5"/>
    <p:sldId id="260" r:id="rId6"/>
    <p:sldId id="262" r:id="rId7"/>
    <p:sldId id="261" r:id="rId8"/>
  </p:sldIdLst>
  <p:sldSz cx="15113000" cy="10693400"/>
  <p:notesSz cx="6858000" cy="9144000"/>
  <p:embeddedFontLst>
    <p:embeddedFont>
      <p:font typeface="Jimmy Script" pitchFamily="2" charset="0"/>
      <p:regular r:id="rId10"/>
    </p:embeddedFont>
    <p:embeddedFont>
      <p:font typeface="Poppins" panose="020B0502040504020204" pitchFamily="34" charset="0"/>
      <p:regular r:id="rId11"/>
    </p:embeddedFont>
    <p:embeddedFont>
      <p:font typeface="Poppins Bold"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8" d="100"/>
          <a:sy n="68" d="100"/>
        </p:scale>
        <p:origin x="157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font" Target="fonts/font3.fntdata"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2.fntdata"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font" Target="fonts/font1.fntdata" /><Relationship Id="rId4" Type="http://schemas.openxmlformats.org/officeDocument/2006/relationships/slide" Target="slides/slide3.xml" /><Relationship Id="rId9" Type="http://schemas.openxmlformats.org/officeDocument/2006/relationships/notesMaster" Target="notesMasters/notesMaster1.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9F4EBA-A370-4B4D-83DF-46DA69BBF49F}" type="datetimeFigureOut">
              <a:rPr lang="en-ID" smtClean="0"/>
              <a:t>20/01/2026</a:t>
            </a:fld>
            <a:endParaRPr lang="en-ID"/>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405FF3-E057-44CC-96BD-812913673A19}" type="slidenum">
              <a:rPr lang="en-ID" smtClean="0"/>
              <a:t>‹#›</a:t>
            </a:fld>
            <a:endParaRPr lang="en-ID"/>
          </a:p>
        </p:txBody>
      </p:sp>
    </p:spTree>
    <p:extLst>
      <p:ext uri="{BB962C8B-B14F-4D97-AF65-F5344CB8AC3E}">
        <p14:creationId xmlns:p14="http://schemas.microsoft.com/office/powerpoint/2010/main" val="3524060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5E405FF3-E057-44CC-96BD-812913673A19}" type="slidenum">
              <a:rPr lang="en-ID" smtClean="0"/>
              <a:t>5</a:t>
            </a:fld>
            <a:endParaRPr lang="en-ID"/>
          </a:p>
        </p:txBody>
      </p:sp>
    </p:spTree>
    <p:extLst>
      <p:ext uri="{BB962C8B-B14F-4D97-AF65-F5344CB8AC3E}">
        <p14:creationId xmlns:p14="http://schemas.microsoft.com/office/powerpoint/2010/main" val="365249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xml" /><Relationship Id="rId1" Type="http://schemas.openxmlformats.org/officeDocument/2006/relationships/slideLayout" Target="../slideLayouts/slideLayout7.xml" /><Relationship Id="rId5" Type="http://schemas.openxmlformats.org/officeDocument/2006/relationships/image" Target="../media/image5.png" /><Relationship Id="rId4" Type="http://schemas.openxmlformats.org/officeDocument/2006/relationships/image" Target="../media/image4.png" /></Relationships>
</file>

<file path=ppt/slides/_rels/slide6.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6.png" /><Relationship Id="rId1" Type="http://schemas.openxmlformats.org/officeDocument/2006/relationships/slideLayout" Target="../slideLayouts/slideLayout7.xml" /><Relationship Id="rId6" Type="http://schemas.openxmlformats.org/officeDocument/2006/relationships/image" Target="../media/image10.png" /><Relationship Id="rId5" Type="http://schemas.openxmlformats.org/officeDocument/2006/relationships/image" Target="../media/image9.png" /><Relationship Id="rId4" Type="http://schemas.openxmlformats.org/officeDocument/2006/relationships/image" Target="../media/image8.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1075" y="393700"/>
            <a:ext cx="14497850" cy="10008820"/>
            <a:chOff x="0" y="0"/>
            <a:chExt cx="5195702" cy="3586935"/>
          </a:xfrm>
        </p:grpSpPr>
        <p:sp>
          <p:nvSpPr>
            <p:cNvPr id="3" name="Freeform 3"/>
            <p:cNvSpPr/>
            <p:nvPr/>
          </p:nvSpPr>
          <p:spPr>
            <a:xfrm>
              <a:off x="0" y="0"/>
              <a:ext cx="5195702" cy="3586935"/>
            </a:xfrm>
            <a:custGeom>
              <a:avLst/>
              <a:gdLst/>
              <a:ahLst/>
              <a:cxnLst/>
              <a:rect l="l" t="t" r="r" b="b"/>
              <a:pathLst>
                <a:path w="5195702" h="3586935">
                  <a:moveTo>
                    <a:pt x="0" y="0"/>
                  </a:moveTo>
                  <a:lnTo>
                    <a:pt x="5195702" y="0"/>
                  </a:lnTo>
                  <a:lnTo>
                    <a:pt x="5195702" y="3586935"/>
                  </a:lnTo>
                  <a:lnTo>
                    <a:pt x="0" y="3586935"/>
                  </a:lnTo>
                  <a:close/>
                </a:path>
              </a:pathLst>
            </a:custGeom>
            <a:solidFill>
              <a:srgbClr val="000000">
                <a:alpha val="0"/>
              </a:srgbClr>
            </a:solidFill>
            <a:ln w="47625" cap="sq">
              <a:solidFill>
                <a:srgbClr val="A4A4C6"/>
              </a:solidFill>
              <a:prstDash val="solid"/>
              <a:miter/>
            </a:ln>
          </p:spPr>
        </p:sp>
        <p:sp>
          <p:nvSpPr>
            <p:cNvPr id="4" name="TextBox 4"/>
            <p:cNvSpPr txBox="1"/>
            <p:nvPr/>
          </p:nvSpPr>
          <p:spPr>
            <a:xfrm>
              <a:off x="0" y="-38100"/>
              <a:ext cx="5195702" cy="3625035"/>
            </a:xfrm>
            <a:prstGeom prst="rect">
              <a:avLst/>
            </a:prstGeom>
          </p:spPr>
          <p:txBody>
            <a:bodyPr lIns="50800" tIns="50800" rIns="50800" bIns="50800" rtlCol="0" anchor="ctr"/>
            <a:lstStyle/>
            <a:p>
              <a:pPr algn="ctr">
                <a:lnSpc>
                  <a:spcPts val="2239"/>
                </a:lnSpc>
              </a:pPr>
              <a:endParaRPr/>
            </a:p>
          </p:txBody>
        </p:sp>
      </p:grpSp>
      <p:grpSp>
        <p:nvGrpSpPr>
          <p:cNvPr id="5" name="Group 5"/>
          <p:cNvGrpSpPr/>
          <p:nvPr/>
        </p:nvGrpSpPr>
        <p:grpSpPr>
          <a:xfrm>
            <a:off x="3526578" y="3161530"/>
            <a:ext cx="695315" cy="4368939"/>
            <a:chOff x="0" y="0"/>
            <a:chExt cx="176192" cy="1107081"/>
          </a:xfrm>
        </p:grpSpPr>
        <p:sp>
          <p:nvSpPr>
            <p:cNvPr id="6" name="Freeform 6"/>
            <p:cNvSpPr/>
            <p:nvPr/>
          </p:nvSpPr>
          <p:spPr>
            <a:xfrm>
              <a:off x="0" y="0"/>
              <a:ext cx="176192" cy="1107081"/>
            </a:xfrm>
            <a:custGeom>
              <a:avLst/>
              <a:gdLst/>
              <a:ahLst/>
              <a:cxnLst/>
              <a:rect l="l" t="t" r="r" b="b"/>
              <a:pathLst>
                <a:path w="176192" h="1107081">
                  <a:moveTo>
                    <a:pt x="0" y="0"/>
                  </a:moveTo>
                  <a:lnTo>
                    <a:pt x="176192" y="0"/>
                  </a:lnTo>
                  <a:lnTo>
                    <a:pt x="176192" y="1107081"/>
                  </a:lnTo>
                  <a:lnTo>
                    <a:pt x="0" y="1107081"/>
                  </a:lnTo>
                  <a:close/>
                </a:path>
              </a:pathLst>
            </a:custGeom>
            <a:solidFill>
              <a:srgbClr val="A4A4C6"/>
            </a:solidFill>
          </p:spPr>
        </p:sp>
        <p:sp>
          <p:nvSpPr>
            <p:cNvPr id="7" name="TextBox 7"/>
            <p:cNvSpPr txBox="1"/>
            <p:nvPr/>
          </p:nvSpPr>
          <p:spPr>
            <a:xfrm>
              <a:off x="0" y="-38100"/>
              <a:ext cx="176192" cy="1145181"/>
            </a:xfrm>
            <a:prstGeom prst="rect">
              <a:avLst/>
            </a:prstGeom>
          </p:spPr>
          <p:txBody>
            <a:bodyPr lIns="50800" tIns="50800" rIns="50800" bIns="50800" rtlCol="0" anchor="ctr"/>
            <a:lstStyle/>
            <a:p>
              <a:pPr algn="ctr">
                <a:lnSpc>
                  <a:spcPts val="2239"/>
                </a:lnSpc>
              </a:pPr>
              <a:endParaRPr/>
            </a:p>
          </p:txBody>
        </p:sp>
      </p:grpSp>
      <p:sp>
        <p:nvSpPr>
          <p:cNvPr id="9" name="TextBox 9"/>
          <p:cNvSpPr txBox="1"/>
          <p:nvPr/>
        </p:nvSpPr>
        <p:spPr>
          <a:xfrm>
            <a:off x="4398540" y="3965894"/>
            <a:ext cx="7552127" cy="2688759"/>
          </a:xfrm>
          <a:prstGeom prst="rect">
            <a:avLst/>
          </a:prstGeom>
        </p:spPr>
        <p:txBody>
          <a:bodyPr lIns="0" tIns="0" rIns="0" bIns="0" rtlCol="0" anchor="t">
            <a:spAutoFit/>
          </a:bodyPr>
          <a:lstStyle/>
          <a:p>
            <a:pPr algn="l">
              <a:lnSpc>
                <a:spcPts val="20850"/>
              </a:lnSpc>
              <a:spcBef>
                <a:spcPct val="0"/>
              </a:spcBef>
            </a:pPr>
            <a:r>
              <a:rPr lang="en-US" sz="14893" b="1" spc="-1117" dirty="0">
                <a:solidFill>
                  <a:srgbClr val="67678B"/>
                </a:solidFill>
                <a:latin typeface="Poppins Bold"/>
                <a:ea typeface="Poppins Bold"/>
                <a:cs typeface="Poppins Bold"/>
                <a:sym typeface="Poppins Bold"/>
              </a:rPr>
              <a:t>Portfolio.</a:t>
            </a:r>
          </a:p>
        </p:txBody>
      </p:sp>
      <p:sp>
        <p:nvSpPr>
          <p:cNvPr id="10" name="TextBox 10"/>
          <p:cNvSpPr txBox="1"/>
          <p:nvPr/>
        </p:nvSpPr>
        <p:spPr>
          <a:xfrm>
            <a:off x="1069200" y="1012050"/>
            <a:ext cx="2019777" cy="391650"/>
          </a:xfrm>
          <a:prstGeom prst="rect">
            <a:avLst/>
          </a:prstGeom>
        </p:spPr>
        <p:txBody>
          <a:bodyPr lIns="0" tIns="0" rIns="0" bIns="0" rtlCol="0" anchor="t">
            <a:spAutoFit/>
          </a:bodyPr>
          <a:lstStyle/>
          <a:p>
            <a:pPr algn="l">
              <a:lnSpc>
                <a:spcPts val="3087"/>
              </a:lnSpc>
            </a:pPr>
            <a:r>
              <a:rPr lang="en-US" sz="2205">
                <a:solidFill>
                  <a:srgbClr val="67678B"/>
                </a:solidFill>
                <a:latin typeface="Poppins"/>
                <a:ea typeface="Poppins"/>
                <a:cs typeface="Poppins"/>
                <a:sym typeface="Poppins"/>
              </a:rPr>
              <a:t>Liceria &amp; co.</a:t>
            </a:r>
          </a:p>
        </p:txBody>
      </p:sp>
      <p:sp>
        <p:nvSpPr>
          <p:cNvPr id="11" name="TextBox 11"/>
          <p:cNvSpPr txBox="1"/>
          <p:nvPr/>
        </p:nvSpPr>
        <p:spPr>
          <a:xfrm>
            <a:off x="1069200" y="9231150"/>
            <a:ext cx="4909564" cy="391650"/>
          </a:xfrm>
          <a:prstGeom prst="rect">
            <a:avLst/>
          </a:prstGeom>
        </p:spPr>
        <p:txBody>
          <a:bodyPr lIns="0" tIns="0" rIns="0" bIns="0" rtlCol="0" anchor="t">
            <a:spAutoFit/>
          </a:bodyPr>
          <a:lstStyle/>
          <a:p>
            <a:pPr algn="l">
              <a:lnSpc>
                <a:spcPts val="3087"/>
              </a:lnSpc>
            </a:pPr>
            <a:r>
              <a:rPr lang="en-US" sz="2205">
                <a:solidFill>
                  <a:srgbClr val="67678B"/>
                </a:solidFill>
                <a:latin typeface="Poppins"/>
                <a:ea typeface="Poppins"/>
                <a:cs typeface="Poppins"/>
                <a:sym typeface="Poppins"/>
              </a:rPr>
              <a:t>www.reallygreatsite.com</a:t>
            </a:r>
          </a:p>
        </p:txBody>
      </p:sp>
      <p:sp>
        <p:nvSpPr>
          <p:cNvPr id="12" name="TextBox 12"/>
          <p:cNvSpPr txBox="1"/>
          <p:nvPr/>
        </p:nvSpPr>
        <p:spPr>
          <a:xfrm>
            <a:off x="10375900" y="9231150"/>
            <a:ext cx="3674900" cy="377347"/>
          </a:xfrm>
          <a:prstGeom prst="rect">
            <a:avLst/>
          </a:prstGeom>
        </p:spPr>
        <p:txBody>
          <a:bodyPr wrap="square" lIns="0" tIns="0" rIns="0" bIns="0" rtlCol="0" anchor="t">
            <a:spAutoFit/>
          </a:bodyPr>
          <a:lstStyle/>
          <a:p>
            <a:pPr algn="r">
              <a:lnSpc>
                <a:spcPts val="3087"/>
              </a:lnSpc>
            </a:pPr>
            <a:r>
              <a:rPr lang="en-US" sz="2205" dirty="0">
                <a:solidFill>
                  <a:srgbClr val="67678B"/>
                </a:solidFill>
                <a:latin typeface="Poppins"/>
                <a:ea typeface="Poppins"/>
                <a:cs typeface="Poppins"/>
                <a:sym typeface="Poppins"/>
              </a:rPr>
              <a:t>by : Maulana Yahya</a:t>
            </a:r>
          </a:p>
        </p:txBody>
      </p:sp>
      <p:sp>
        <p:nvSpPr>
          <p:cNvPr id="13" name="TextBox 13"/>
          <p:cNvSpPr txBox="1"/>
          <p:nvPr/>
        </p:nvSpPr>
        <p:spPr>
          <a:xfrm>
            <a:off x="11053312" y="1012050"/>
            <a:ext cx="2997488" cy="377347"/>
          </a:xfrm>
          <a:prstGeom prst="rect">
            <a:avLst/>
          </a:prstGeom>
        </p:spPr>
        <p:txBody>
          <a:bodyPr lIns="0" tIns="0" rIns="0" bIns="0" rtlCol="0" anchor="t">
            <a:spAutoFit/>
          </a:bodyPr>
          <a:lstStyle/>
          <a:p>
            <a:pPr algn="r">
              <a:lnSpc>
                <a:spcPts val="3087"/>
              </a:lnSpc>
            </a:pPr>
            <a:r>
              <a:rPr lang="en-US" sz="2205" dirty="0">
                <a:solidFill>
                  <a:srgbClr val="67678B"/>
                </a:solidFill>
                <a:latin typeface="Poppins"/>
                <a:ea typeface="Poppins"/>
                <a:cs typeface="Poppins"/>
                <a:sym typeface="Poppins"/>
              </a:rPr>
              <a:t>SEPTEMBER 29,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B146F0-2AAB-D8B2-5A20-959FDAEACC7F}"/>
              </a:ext>
            </a:extLst>
          </p:cNvPr>
          <p:cNvSpPr txBox="1"/>
          <p:nvPr/>
        </p:nvSpPr>
        <p:spPr>
          <a:xfrm>
            <a:off x="5651500" y="774700"/>
            <a:ext cx="4067652" cy="646331"/>
          </a:xfrm>
          <a:prstGeom prst="rect">
            <a:avLst/>
          </a:prstGeom>
          <a:noFill/>
        </p:spPr>
        <p:txBody>
          <a:bodyPr wrap="none" rtlCol="0">
            <a:spAutoFit/>
          </a:bodyPr>
          <a:lstStyle/>
          <a:p>
            <a:r>
              <a:rPr lang="id-ID" sz="3600" b="1" dirty="0">
                <a:solidFill>
                  <a:schemeClr val="accent4">
                    <a:lumMod val="75000"/>
                  </a:schemeClr>
                </a:solidFill>
              </a:rPr>
              <a:t>MOTIVATION </a:t>
            </a:r>
            <a:r>
              <a:rPr lang="en-US" sz="3600" b="1" dirty="0">
                <a:solidFill>
                  <a:schemeClr val="accent4">
                    <a:lumMod val="75000"/>
                  </a:schemeClr>
                </a:solidFill>
              </a:rPr>
              <a:t>LATER</a:t>
            </a:r>
            <a:r>
              <a:rPr lang="en-US" sz="3600" dirty="0">
                <a:solidFill>
                  <a:schemeClr val="accent4">
                    <a:lumMod val="75000"/>
                  </a:schemeClr>
                </a:solidFill>
              </a:rPr>
              <a:t> </a:t>
            </a:r>
            <a:endParaRPr lang="en-ID" sz="3600" dirty="0">
              <a:solidFill>
                <a:schemeClr val="accent4">
                  <a:lumMod val="75000"/>
                </a:schemeClr>
              </a:solidFill>
            </a:endParaRPr>
          </a:p>
        </p:txBody>
      </p:sp>
      <p:sp>
        <p:nvSpPr>
          <p:cNvPr id="5" name="Kotak Teks 4">
            <a:extLst>
              <a:ext uri="{FF2B5EF4-FFF2-40B4-BE49-F238E27FC236}">
                <a16:creationId xmlns:a16="http://schemas.microsoft.com/office/drawing/2014/main" id="{8A0BD257-7BE2-1825-1A34-EEA7C40535B0}"/>
              </a:ext>
            </a:extLst>
          </p:cNvPr>
          <p:cNvSpPr txBox="1"/>
          <p:nvPr/>
        </p:nvSpPr>
        <p:spPr>
          <a:xfrm>
            <a:off x="2802548" y="1930380"/>
            <a:ext cx="9507904" cy="6001643"/>
          </a:xfrm>
          <a:prstGeom prst="rect">
            <a:avLst/>
          </a:prstGeom>
          <a:noFill/>
        </p:spPr>
        <p:txBody>
          <a:bodyPr wrap="square">
            <a:spAutoFit/>
          </a:bodyPr>
          <a:lstStyle/>
          <a:p>
            <a:pPr algn="thaiDist"/>
            <a:r>
              <a:rPr lang="id-ID" sz="2400" dirty="0"/>
              <a:t>Perkenalkan, nama saya Maulana Yahya, lulusan Fakultas Ekonomi Universitas Pamulang dengan konsentrasi Manajemen Keuangan. Saya memiliki pemahaman dasar di bidang keuangan, perpajakan, dan </a:t>
            </a:r>
            <a:r>
              <a:rPr lang="id-ID" sz="2400" dirty="0" err="1"/>
              <a:t>supply</a:t>
            </a:r>
            <a:r>
              <a:rPr lang="id-ID" sz="2400" dirty="0"/>
              <a:t> </a:t>
            </a:r>
            <a:r>
              <a:rPr lang="id-ID" sz="2400" dirty="0" err="1"/>
              <a:t>chain</a:t>
            </a:r>
            <a:r>
              <a:rPr lang="id-ID" sz="2400" dirty="0"/>
              <a:t>, meliputi pencatatan serta pengolahan data keuangan, analisis laporan keuangan sederhana, pengelolaan anggaran, pemahaman dasar kewajiban perpajakan, serta pemahaman alur </a:t>
            </a:r>
            <a:r>
              <a:rPr lang="id-ID" sz="2400" dirty="0" err="1"/>
              <a:t>supply</a:t>
            </a:r>
            <a:r>
              <a:rPr lang="id-ID" sz="2400" dirty="0"/>
              <a:t> </a:t>
            </a:r>
            <a:r>
              <a:rPr lang="id-ID" sz="2400" dirty="0" err="1"/>
              <a:t>chain</a:t>
            </a:r>
            <a:r>
              <a:rPr lang="id-ID" sz="2400" dirty="0"/>
              <a:t> yang berkaitan dengan biaya, persediaan, dan proses operasional. Saya juga terbiasa menggunakan Microsoft Excel untuk membantu pengolahan dan penyajian data.</a:t>
            </a:r>
          </a:p>
          <a:p>
            <a:pPr algn="thaiDist"/>
            <a:endParaRPr lang="id-ID" sz="2400" dirty="0"/>
          </a:p>
          <a:p>
            <a:pPr algn="thaiDist"/>
            <a:r>
              <a:rPr lang="id-ID" sz="2400" dirty="0"/>
              <a:t>Saya tertarik untuk memulai dan mengembangkan karier di berbagai posisi yang berkaitan dengan keuangan, akuntansi, perpajakan, maupun </a:t>
            </a:r>
            <a:r>
              <a:rPr lang="id-ID" sz="2400" dirty="0" err="1"/>
              <a:t>supply</a:t>
            </a:r>
            <a:r>
              <a:rPr lang="id-ID" sz="2400" dirty="0"/>
              <a:t> </a:t>
            </a:r>
            <a:r>
              <a:rPr lang="id-ID" sz="2400" dirty="0" err="1"/>
              <a:t>chain</a:t>
            </a:r>
            <a:r>
              <a:rPr lang="id-ID" sz="2400" dirty="0"/>
              <a:t>. Saat ini saya terus berupaya meningkatkan pengetahuan dan keterampilan melalui pelatihan, serta mempelajari praktik kerja yang berlaku. Ke depan, saya berharap dapat terus belajar dan memberikan kontribusi secara bertahap sesuai dengan kebutuhan perusahaan.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F3C6AB-220C-293C-CFE4-EFF2B07038FF}"/>
              </a:ext>
            </a:extLst>
          </p:cNvPr>
          <p:cNvSpPr txBox="1"/>
          <p:nvPr/>
        </p:nvSpPr>
        <p:spPr>
          <a:xfrm>
            <a:off x="5651500" y="622300"/>
            <a:ext cx="3927807" cy="646331"/>
          </a:xfrm>
          <a:prstGeom prst="rect">
            <a:avLst/>
          </a:prstGeom>
          <a:noFill/>
        </p:spPr>
        <p:txBody>
          <a:bodyPr wrap="none" rtlCol="0">
            <a:spAutoFit/>
          </a:bodyPr>
          <a:lstStyle/>
          <a:p>
            <a:r>
              <a:rPr lang="en-US" sz="3600" b="1" dirty="0">
                <a:solidFill>
                  <a:schemeClr val="accent4">
                    <a:lumMod val="75000"/>
                  </a:schemeClr>
                </a:solidFill>
              </a:rPr>
              <a:t>STUDENT CONTENT</a:t>
            </a:r>
            <a:endParaRPr lang="en-ID" sz="3600" b="1" dirty="0">
              <a:solidFill>
                <a:schemeClr val="accent4">
                  <a:lumMod val="75000"/>
                </a:schemeClr>
              </a:solidFill>
            </a:endParaRPr>
          </a:p>
        </p:txBody>
      </p:sp>
      <p:sp>
        <p:nvSpPr>
          <p:cNvPr id="3" name="TextBox 2">
            <a:extLst>
              <a:ext uri="{FF2B5EF4-FFF2-40B4-BE49-F238E27FC236}">
                <a16:creationId xmlns:a16="http://schemas.microsoft.com/office/drawing/2014/main" id="{F4D03635-D32A-25F5-D8A8-BFC5365DA963}"/>
              </a:ext>
            </a:extLst>
          </p:cNvPr>
          <p:cNvSpPr txBox="1"/>
          <p:nvPr/>
        </p:nvSpPr>
        <p:spPr>
          <a:xfrm>
            <a:off x="1113692" y="1460500"/>
            <a:ext cx="13615412" cy="8648521"/>
          </a:xfrm>
          <a:prstGeom prst="rect">
            <a:avLst/>
          </a:prstGeom>
          <a:noFill/>
        </p:spPr>
        <p:txBody>
          <a:bodyPr wrap="square" rtlCol="0">
            <a:spAutoFit/>
          </a:bodyPr>
          <a:lstStyle/>
          <a:p>
            <a:r>
              <a:rPr lang="en-US" sz="2800" dirty="0"/>
              <a:t>Formula Excel :</a:t>
            </a:r>
          </a:p>
          <a:p>
            <a:endParaRPr lang="en-US" sz="2400" dirty="0"/>
          </a:p>
          <a:p>
            <a:r>
              <a:rPr lang="en-US" sz="2400" dirty="0"/>
              <a:t>SUM </a:t>
            </a:r>
            <a:r>
              <a:rPr lang="en-US" sz="2400" dirty="0" err="1"/>
              <a:t>adalah</a:t>
            </a:r>
            <a:r>
              <a:rPr lang="en-US" sz="2400" dirty="0"/>
              <a:t> </a:t>
            </a:r>
            <a:r>
              <a:rPr lang="en-US" sz="2400" dirty="0" err="1"/>
              <a:t>fungsi</a:t>
            </a:r>
            <a:r>
              <a:rPr lang="en-US" sz="2400" dirty="0"/>
              <a:t> yang </a:t>
            </a:r>
            <a:r>
              <a:rPr lang="en-US" sz="2400" dirty="0" err="1"/>
              <a:t>digunakan</a:t>
            </a:r>
            <a:r>
              <a:rPr lang="en-US" sz="2400" dirty="0"/>
              <a:t> </a:t>
            </a:r>
            <a:r>
              <a:rPr lang="en-US" sz="2400" dirty="0" err="1"/>
              <a:t>untuk</a:t>
            </a:r>
            <a:r>
              <a:rPr lang="en-US" sz="2400" dirty="0"/>
              <a:t> </a:t>
            </a:r>
            <a:r>
              <a:rPr lang="en-US" sz="2400" dirty="0" err="1"/>
              <a:t>melakukan</a:t>
            </a:r>
            <a:r>
              <a:rPr lang="en-US" sz="2400" dirty="0"/>
              <a:t> </a:t>
            </a:r>
            <a:r>
              <a:rPr lang="en-US" sz="2400" dirty="0" err="1"/>
              <a:t>penjumlahan</a:t>
            </a:r>
            <a:r>
              <a:rPr lang="en-US" sz="2400" dirty="0"/>
              <a:t> </a:t>
            </a:r>
            <a:r>
              <a:rPr lang="en-US" sz="2400" dirty="0" err="1"/>
              <a:t>angka</a:t>
            </a:r>
            <a:r>
              <a:rPr lang="en-US" sz="2400" dirty="0"/>
              <a:t> pada </a:t>
            </a:r>
            <a:r>
              <a:rPr lang="en-US" sz="2400" dirty="0" err="1"/>
              <a:t>suatu</a:t>
            </a:r>
            <a:r>
              <a:rPr lang="en-US" sz="2400" dirty="0"/>
              <a:t> range.</a:t>
            </a:r>
          </a:p>
          <a:p>
            <a:r>
              <a:rPr lang="en-US" sz="2400" dirty="0"/>
              <a:t>SUMIF </a:t>
            </a:r>
            <a:r>
              <a:rPr lang="en-US" sz="2400" dirty="0" err="1"/>
              <a:t>adalah</a:t>
            </a:r>
            <a:r>
              <a:rPr lang="en-US" sz="2400" dirty="0"/>
              <a:t> </a:t>
            </a:r>
            <a:r>
              <a:rPr lang="en-US" sz="2400" dirty="0" err="1"/>
              <a:t>fungsi</a:t>
            </a:r>
            <a:r>
              <a:rPr lang="en-US" sz="2400" dirty="0"/>
              <a:t> yang </a:t>
            </a:r>
            <a:r>
              <a:rPr lang="en-US" sz="2400" dirty="0" err="1"/>
              <a:t>digunakan</a:t>
            </a:r>
            <a:r>
              <a:rPr lang="en-US" sz="2400" dirty="0"/>
              <a:t> </a:t>
            </a:r>
            <a:r>
              <a:rPr lang="en-US" sz="2400" dirty="0" err="1"/>
              <a:t>untuk</a:t>
            </a:r>
            <a:r>
              <a:rPr lang="en-US" sz="2400" dirty="0"/>
              <a:t> </a:t>
            </a:r>
            <a:r>
              <a:rPr lang="en-US" sz="2400" dirty="0" err="1"/>
              <a:t>menjumlahkan</a:t>
            </a:r>
            <a:r>
              <a:rPr lang="en-US" sz="2400" dirty="0"/>
              <a:t> </a:t>
            </a:r>
            <a:r>
              <a:rPr lang="en-US" sz="2400" dirty="0" err="1"/>
              <a:t>angka</a:t>
            </a:r>
            <a:r>
              <a:rPr lang="en-US" sz="2400" dirty="0"/>
              <a:t> </a:t>
            </a:r>
            <a:r>
              <a:rPr lang="en-US" sz="2400" dirty="0" err="1"/>
              <a:t>dalam</a:t>
            </a:r>
            <a:r>
              <a:rPr lang="en-US" sz="2400" dirty="0"/>
              <a:t> </a:t>
            </a:r>
            <a:r>
              <a:rPr lang="en-US" sz="2400" dirty="0" err="1"/>
              <a:t>suatu</a:t>
            </a:r>
            <a:r>
              <a:rPr lang="en-US" sz="2400" dirty="0"/>
              <a:t> range yang</a:t>
            </a:r>
          </a:p>
          <a:p>
            <a:r>
              <a:rPr lang="en-US" sz="2400" dirty="0" err="1"/>
              <a:t>memenuhi</a:t>
            </a:r>
            <a:r>
              <a:rPr lang="en-US" sz="2400" dirty="0"/>
              <a:t> </a:t>
            </a:r>
            <a:r>
              <a:rPr lang="en-US" sz="2400" dirty="0" err="1"/>
              <a:t>kriteria</a:t>
            </a:r>
            <a:r>
              <a:rPr lang="en-US" sz="2400" dirty="0"/>
              <a:t> yang </a:t>
            </a:r>
            <a:r>
              <a:rPr lang="en-US" sz="2400" dirty="0" err="1"/>
              <a:t>ditentukan</a:t>
            </a:r>
            <a:endParaRPr lang="en-US" sz="2400" dirty="0"/>
          </a:p>
          <a:p>
            <a:r>
              <a:rPr lang="en-US" sz="2400" dirty="0"/>
              <a:t>SUMIFS </a:t>
            </a:r>
            <a:r>
              <a:rPr lang="en-US" sz="2400" dirty="0" err="1"/>
              <a:t>adalah</a:t>
            </a:r>
            <a:r>
              <a:rPr lang="en-US" sz="2400" dirty="0"/>
              <a:t> </a:t>
            </a:r>
            <a:r>
              <a:rPr lang="en-US" sz="2400" dirty="0" err="1"/>
              <a:t>fungsi</a:t>
            </a:r>
            <a:r>
              <a:rPr lang="en-US" sz="2400" dirty="0"/>
              <a:t> yang </a:t>
            </a:r>
            <a:r>
              <a:rPr lang="en-US" sz="2400" dirty="0" err="1"/>
              <a:t>digunakan</a:t>
            </a:r>
            <a:r>
              <a:rPr lang="en-US" sz="2400" dirty="0"/>
              <a:t> </a:t>
            </a:r>
            <a:r>
              <a:rPr lang="en-US" sz="2400" dirty="0" err="1"/>
              <a:t>untuk</a:t>
            </a:r>
            <a:r>
              <a:rPr lang="en-US" sz="2400" dirty="0"/>
              <a:t> </a:t>
            </a:r>
            <a:r>
              <a:rPr lang="en-US" sz="2400" dirty="0" err="1"/>
              <a:t>menjumlahkan</a:t>
            </a:r>
            <a:r>
              <a:rPr lang="en-US" sz="2400" dirty="0"/>
              <a:t> </a:t>
            </a:r>
            <a:r>
              <a:rPr lang="en-US" sz="2400" dirty="0" err="1"/>
              <a:t>angka</a:t>
            </a:r>
            <a:r>
              <a:rPr lang="en-US" sz="2400" dirty="0"/>
              <a:t> pada range yang </a:t>
            </a:r>
            <a:r>
              <a:rPr lang="en-US" sz="2400" dirty="0" err="1"/>
              <a:t>memenuhi</a:t>
            </a:r>
            <a:r>
              <a:rPr lang="en-US" sz="2400" dirty="0"/>
              <a:t> </a:t>
            </a:r>
            <a:r>
              <a:rPr lang="en-US" sz="2400" dirty="0" err="1"/>
              <a:t>beberapa</a:t>
            </a:r>
            <a:r>
              <a:rPr lang="en-US" sz="2400" dirty="0"/>
              <a:t> </a:t>
            </a:r>
            <a:r>
              <a:rPr lang="en-US" sz="2400" dirty="0" err="1"/>
              <a:t>kriteria</a:t>
            </a:r>
            <a:endParaRPr lang="en-US" sz="2400" dirty="0"/>
          </a:p>
          <a:p>
            <a:r>
              <a:rPr lang="en-US" sz="2400" dirty="0"/>
              <a:t>MAX </a:t>
            </a:r>
            <a:r>
              <a:rPr lang="en-US" sz="2400" dirty="0" err="1"/>
              <a:t>adalah</a:t>
            </a:r>
            <a:r>
              <a:rPr lang="en-US" sz="2400" dirty="0"/>
              <a:t> </a:t>
            </a:r>
            <a:r>
              <a:rPr lang="en-US" sz="2400" dirty="0" err="1"/>
              <a:t>untuk</a:t>
            </a:r>
            <a:r>
              <a:rPr lang="en-US" sz="2400" dirty="0"/>
              <a:t> </a:t>
            </a:r>
            <a:r>
              <a:rPr lang="en-US" sz="2400" dirty="0" err="1"/>
              <a:t>mengetahui</a:t>
            </a:r>
            <a:r>
              <a:rPr lang="en-US" sz="2400" dirty="0"/>
              <a:t> </a:t>
            </a:r>
            <a:r>
              <a:rPr lang="en-US" sz="2400" dirty="0" err="1"/>
              <a:t>angka</a:t>
            </a:r>
            <a:r>
              <a:rPr lang="en-US" sz="2400" dirty="0"/>
              <a:t> </a:t>
            </a:r>
            <a:r>
              <a:rPr lang="en-US" sz="2400" dirty="0" err="1"/>
              <a:t>tertinggi</a:t>
            </a:r>
            <a:r>
              <a:rPr lang="en-US" sz="2400" dirty="0"/>
              <a:t> yang </a:t>
            </a:r>
            <a:r>
              <a:rPr lang="en-US" sz="2400" dirty="0" err="1"/>
              <a:t>terdapat</a:t>
            </a:r>
            <a:r>
              <a:rPr lang="en-US" sz="2400" dirty="0"/>
              <a:t> pada </a:t>
            </a:r>
            <a:r>
              <a:rPr lang="en-US" sz="2400" dirty="0" err="1"/>
              <a:t>suatu</a:t>
            </a:r>
            <a:r>
              <a:rPr lang="en-US" sz="2400" dirty="0"/>
              <a:t> range</a:t>
            </a:r>
          </a:p>
          <a:p>
            <a:r>
              <a:rPr lang="en-US" sz="2400" dirty="0"/>
              <a:t>SMALL </a:t>
            </a:r>
            <a:r>
              <a:rPr lang="en-US" sz="2400" dirty="0" err="1"/>
              <a:t>adalah</a:t>
            </a:r>
            <a:r>
              <a:rPr lang="en-US" sz="2400" dirty="0"/>
              <a:t> </a:t>
            </a:r>
            <a:r>
              <a:rPr lang="en-US" sz="2400" dirty="0" err="1"/>
              <a:t>fungsi</a:t>
            </a:r>
            <a:r>
              <a:rPr lang="en-US" sz="2400" dirty="0"/>
              <a:t> </a:t>
            </a:r>
            <a:r>
              <a:rPr lang="en-US" sz="2400" dirty="0" err="1"/>
              <a:t>untuk</a:t>
            </a:r>
            <a:r>
              <a:rPr lang="en-US" sz="2400" dirty="0"/>
              <a:t> </a:t>
            </a:r>
            <a:r>
              <a:rPr lang="en-US" sz="2400" dirty="0" err="1"/>
              <a:t>mengetahui</a:t>
            </a:r>
            <a:r>
              <a:rPr lang="en-US" sz="2400" dirty="0"/>
              <a:t> data </a:t>
            </a:r>
            <a:r>
              <a:rPr lang="en-US" sz="2400" dirty="0" err="1"/>
              <a:t>terendah</a:t>
            </a:r>
            <a:r>
              <a:rPr lang="en-US" sz="2400" dirty="0"/>
              <a:t> pada </a:t>
            </a:r>
            <a:r>
              <a:rPr lang="en-US" sz="2400" dirty="0" err="1"/>
              <a:t>urutan</a:t>
            </a:r>
            <a:r>
              <a:rPr lang="en-US" sz="2400" dirty="0"/>
              <a:t> </a:t>
            </a:r>
            <a:r>
              <a:rPr lang="en-US" sz="2400" dirty="0" err="1"/>
              <a:t>tertentu</a:t>
            </a:r>
            <a:r>
              <a:rPr lang="en-US" sz="2400" dirty="0"/>
              <a:t>.</a:t>
            </a:r>
          </a:p>
          <a:p>
            <a:r>
              <a:rPr lang="en-US" sz="2400" dirty="0"/>
              <a:t>IF </a:t>
            </a:r>
            <a:r>
              <a:rPr lang="en-US" sz="2400" dirty="0" err="1"/>
              <a:t>adalah</a:t>
            </a:r>
            <a:r>
              <a:rPr lang="en-US" sz="2400" dirty="0"/>
              <a:t> </a:t>
            </a:r>
            <a:r>
              <a:rPr lang="en-US" sz="2400" dirty="0" err="1"/>
              <a:t>fungsi</a:t>
            </a:r>
            <a:r>
              <a:rPr lang="en-US" sz="2400" dirty="0"/>
              <a:t> yang </a:t>
            </a:r>
            <a:r>
              <a:rPr lang="en-US" sz="2400" dirty="0" err="1"/>
              <a:t>menghasilkan</a:t>
            </a:r>
            <a:r>
              <a:rPr lang="en-US" sz="2400" dirty="0"/>
              <a:t> </a:t>
            </a:r>
            <a:r>
              <a:rPr lang="en-US" sz="2400" dirty="0" err="1"/>
              <a:t>nilai</a:t>
            </a:r>
            <a:r>
              <a:rPr lang="en-US" sz="2400" dirty="0"/>
              <a:t> </a:t>
            </a:r>
            <a:r>
              <a:rPr lang="en-US" sz="2400" dirty="0" err="1"/>
              <a:t>benar</a:t>
            </a:r>
            <a:r>
              <a:rPr lang="en-US" sz="2400" dirty="0"/>
              <a:t> (TRUE) </a:t>
            </a:r>
            <a:r>
              <a:rPr lang="en-US" sz="2400" dirty="0" err="1"/>
              <a:t>atau</a:t>
            </a:r>
            <a:r>
              <a:rPr lang="en-US" sz="2400" dirty="0"/>
              <a:t> salah (FALSE) </a:t>
            </a:r>
            <a:r>
              <a:rPr lang="en-US" sz="2400" dirty="0" err="1"/>
              <a:t>berdasarkan</a:t>
            </a:r>
            <a:r>
              <a:rPr lang="en-US" sz="2400" dirty="0"/>
              <a:t> </a:t>
            </a:r>
            <a:r>
              <a:rPr lang="en-US" sz="2400" dirty="0" err="1"/>
              <a:t>kriteria</a:t>
            </a:r>
            <a:r>
              <a:rPr lang="en-US" sz="2400" dirty="0"/>
              <a:t> yang </a:t>
            </a:r>
            <a:r>
              <a:rPr lang="en-US" sz="2400" dirty="0" err="1"/>
              <a:t>ditentukan</a:t>
            </a:r>
            <a:r>
              <a:rPr lang="en-US" sz="2400" dirty="0"/>
              <a:t>.</a:t>
            </a:r>
          </a:p>
          <a:p>
            <a:r>
              <a:rPr lang="en-US" sz="2400" dirty="0"/>
              <a:t>INDEX </a:t>
            </a:r>
            <a:r>
              <a:rPr lang="en-US" sz="2400" dirty="0" err="1"/>
              <a:t>adalah</a:t>
            </a:r>
            <a:r>
              <a:rPr lang="en-US" sz="2400" dirty="0"/>
              <a:t> </a:t>
            </a:r>
            <a:r>
              <a:rPr lang="en-US" sz="2400" dirty="0" err="1"/>
              <a:t>fungsi</a:t>
            </a:r>
            <a:r>
              <a:rPr lang="en-US" sz="2400" dirty="0"/>
              <a:t> yang </a:t>
            </a:r>
            <a:r>
              <a:rPr lang="en-US" sz="2400" dirty="0" err="1"/>
              <a:t>menampilkan</a:t>
            </a:r>
            <a:r>
              <a:rPr lang="en-US" sz="2400" dirty="0"/>
              <a:t> </a:t>
            </a:r>
            <a:r>
              <a:rPr lang="en-US" sz="2400" dirty="0" err="1"/>
              <a:t>isi</a:t>
            </a:r>
            <a:r>
              <a:rPr lang="en-US" sz="2400" dirty="0"/>
              <a:t> </a:t>
            </a:r>
            <a:r>
              <a:rPr lang="en-US" sz="2400" dirty="0" err="1"/>
              <a:t>sel</a:t>
            </a:r>
            <a:r>
              <a:rPr lang="en-US" sz="2400" dirty="0"/>
              <a:t> </a:t>
            </a:r>
            <a:r>
              <a:rPr lang="en-US" sz="2400" dirty="0" err="1"/>
              <a:t>dalam</a:t>
            </a:r>
            <a:r>
              <a:rPr lang="en-US" sz="2400" dirty="0"/>
              <a:t> range database </a:t>
            </a:r>
            <a:r>
              <a:rPr lang="en-US" sz="2400" dirty="0" err="1"/>
              <a:t>berdasarkan</a:t>
            </a:r>
            <a:r>
              <a:rPr lang="en-US" sz="2400" dirty="0"/>
              <a:t> </a:t>
            </a:r>
            <a:r>
              <a:rPr lang="en-US" sz="2400" dirty="0" err="1"/>
              <a:t>nomor</a:t>
            </a:r>
            <a:r>
              <a:rPr lang="en-US" sz="2400" dirty="0"/>
              <a:t> </a:t>
            </a:r>
            <a:r>
              <a:rPr lang="en-US" sz="2400" dirty="0" err="1"/>
              <a:t>kolom</a:t>
            </a:r>
            <a:r>
              <a:rPr lang="en-US" sz="2400" dirty="0"/>
              <a:t> dan </a:t>
            </a:r>
            <a:r>
              <a:rPr lang="en-US" sz="2400" dirty="0" err="1"/>
              <a:t>nomor</a:t>
            </a:r>
            <a:r>
              <a:rPr lang="en-US" sz="2400" dirty="0"/>
              <a:t> baris </a:t>
            </a:r>
          </a:p>
          <a:p>
            <a:r>
              <a:rPr lang="en-US" sz="2400" dirty="0"/>
              <a:t>yang </a:t>
            </a:r>
            <a:r>
              <a:rPr lang="en-US" sz="2400" dirty="0" err="1"/>
              <a:t>ditentukan</a:t>
            </a:r>
            <a:endParaRPr lang="en-US" sz="2400" dirty="0"/>
          </a:p>
          <a:p>
            <a:r>
              <a:rPr lang="en-US" sz="2400" dirty="0"/>
              <a:t>MATCH </a:t>
            </a:r>
            <a:r>
              <a:rPr lang="en-US" sz="2400" dirty="0" err="1"/>
              <a:t>adalah</a:t>
            </a:r>
            <a:r>
              <a:rPr lang="en-US" sz="2400" dirty="0"/>
              <a:t> </a:t>
            </a:r>
            <a:r>
              <a:rPr lang="en-US" sz="2400" dirty="0" err="1"/>
              <a:t>fungsi</a:t>
            </a:r>
            <a:r>
              <a:rPr lang="en-US" sz="2400" dirty="0"/>
              <a:t> yang </a:t>
            </a:r>
            <a:r>
              <a:rPr lang="en-US" sz="2400" dirty="0" err="1"/>
              <a:t>menampilkan</a:t>
            </a:r>
            <a:r>
              <a:rPr lang="en-US" sz="2400" dirty="0"/>
              <a:t> </a:t>
            </a:r>
            <a:r>
              <a:rPr lang="en-US" sz="2400" dirty="0" err="1"/>
              <a:t>posisi</a:t>
            </a:r>
            <a:r>
              <a:rPr lang="en-US" sz="2400" dirty="0"/>
              <a:t> salah </a:t>
            </a:r>
            <a:r>
              <a:rPr lang="en-US" sz="2400" dirty="0" err="1"/>
              <a:t>satu</a:t>
            </a:r>
            <a:r>
              <a:rPr lang="en-US" sz="2400" dirty="0"/>
              <a:t> </a:t>
            </a:r>
            <a:r>
              <a:rPr lang="en-US" sz="2400" dirty="0" err="1"/>
              <a:t>elemen</a:t>
            </a:r>
            <a:r>
              <a:rPr lang="en-US" sz="2400" dirty="0"/>
              <a:t> </a:t>
            </a:r>
            <a:r>
              <a:rPr lang="en-US" sz="2400" dirty="0" err="1"/>
              <a:t>dari</a:t>
            </a:r>
            <a:r>
              <a:rPr lang="en-US" sz="2400" dirty="0"/>
              <a:t> </a:t>
            </a:r>
            <a:r>
              <a:rPr lang="en-US" sz="2400" dirty="0" err="1"/>
              <a:t>suatu</a:t>
            </a:r>
            <a:r>
              <a:rPr lang="en-US" sz="2400" dirty="0"/>
              <a:t> array </a:t>
            </a:r>
            <a:r>
              <a:rPr lang="en-US" sz="2400" dirty="0" err="1"/>
              <a:t>atau</a:t>
            </a:r>
            <a:r>
              <a:rPr lang="en-US" sz="2400" dirty="0"/>
              <a:t> salah </a:t>
            </a:r>
            <a:r>
              <a:rPr lang="en-US" sz="2400" dirty="0" err="1"/>
              <a:t>satu</a:t>
            </a:r>
            <a:r>
              <a:rPr lang="en-US" sz="2400" dirty="0"/>
              <a:t> </a:t>
            </a:r>
            <a:r>
              <a:rPr lang="en-US" sz="2400" dirty="0" err="1"/>
              <a:t>sel</a:t>
            </a:r>
            <a:r>
              <a:rPr lang="en-US" sz="2400" dirty="0"/>
              <a:t> </a:t>
            </a:r>
            <a:r>
              <a:rPr lang="en-US" sz="2400" dirty="0" err="1"/>
              <a:t>dalam</a:t>
            </a:r>
            <a:r>
              <a:rPr lang="en-US" sz="2400" dirty="0"/>
              <a:t> </a:t>
            </a:r>
            <a:r>
              <a:rPr lang="en-US" sz="2400" dirty="0" err="1"/>
              <a:t>suatu</a:t>
            </a:r>
            <a:endParaRPr lang="en-US" sz="2400" dirty="0"/>
          </a:p>
          <a:p>
            <a:r>
              <a:rPr lang="en-US" sz="2400" dirty="0"/>
              <a:t>range </a:t>
            </a:r>
            <a:r>
              <a:rPr lang="en-US" sz="2400" dirty="0" err="1"/>
              <a:t>dengan</a:t>
            </a:r>
            <a:r>
              <a:rPr lang="en-US" sz="2400" dirty="0"/>
              <a:t> </a:t>
            </a:r>
            <a:r>
              <a:rPr lang="en-US" sz="2400" dirty="0" err="1"/>
              <a:t>mencocokan</a:t>
            </a:r>
            <a:r>
              <a:rPr lang="en-US" sz="2400" dirty="0"/>
              <a:t> </a:t>
            </a:r>
            <a:r>
              <a:rPr lang="en-US" sz="2400" dirty="0" err="1"/>
              <a:t>isi</a:t>
            </a:r>
            <a:r>
              <a:rPr lang="en-US" sz="2400" dirty="0"/>
              <a:t> sel.</a:t>
            </a:r>
          </a:p>
          <a:p>
            <a:r>
              <a:rPr lang="en-US" sz="2400" dirty="0"/>
              <a:t>VLOOKUP </a:t>
            </a:r>
            <a:r>
              <a:rPr lang="en-US" sz="2400" dirty="0" err="1"/>
              <a:t>adalah</a:t>
            </a:r>
            <a:r>
              <a:rPr lang="en-US" sz="2400" dirty="0"/>
              <a:t> </a:t>
            </a:r>
            <a:r>
              <a:rPr lang="en-US" sz="2400" dirty="0" err="1"/>
              <a:t>fungsi</a:t>
            </a:r>
            <a:r>
              <a:rPr lang="en-US" sz="2400" dirty="0"/>
              <a:t> yang </a:t>
            </a:r>
            <a:r>
              <a:rPr lang="en-US" sz="2400" dirty="0" err="1"/>
              <a:t>digunakan</a:t>
            </a:r>
            <a:r>
              <a:rPr lang="en-US" sz="2400" dirty="0"/>
              <a:t> </a:t>
            </a:r>
            <a:r>
              <a:rPr lang="en-US" sz="2400" dirty="0" err="1"/>
              <a:t>untuk</a:t>
            </a:r>
            <a:r>
              <a:rPr lang="en-US" sz="2400" dirty="0"/>
              <a:t> </a:t>
            </a:r>
            <a:r>
              <a:rPr lang="en-US" sz="2400" dirty="0" err="1"/>
              <a:t>mencari</a:t>
            </a:r>
            <a:r>
              <a:rPr lang="en-US" sz="2400" dirty="0"/>
              <a:t> </a:t>
            </a:r>
            <a:r>
              <a:rPr lang="en-US" sz="2400" dirty="0" err="1"/>
              <a:t>nilai</a:t>
            </a:r>
            <a:r>
              <a:rPr lang="en-US" sz="2400" dirty="0"/>
              <a:t> pada table </a:t>
            </a:r>
            <a:r>
              <a:rPr lang="en-US" sz="2400" dirty="0" err="1"/>
              <a:t>secara</a:t>
            </a:r>
            <a:r>
              <a:rPr lang="en-US" sz="2400" dirty="0"/>
              <a:t> </a:t>
            </a:r>
            <a:r>
              <a:rPr lang="en-US" sz="2400" dirty="0" err="1"/>
              <a:t>vertikaL</a:t>
            </a:r>
            <a:r>
              <a:rPr lang="en-US" sz="2400" dirty="0"/>
              <a:t>.</a:t>
            </a:r>
          </a:p>
          <a:p>
            <a:r>
              <a:rPr lang="en-US" sz="2400" dirty="0"/>
              <a:t>HLOOKUP </a:t>
            </a:r>
            <a:r>
              <a:rPr lang="en-US" sz="2400" dirty="0" err="1"/>
              <a:t>adalah</a:t>
            </a:r>
            <a:r>
              <a:rPr lang="en-US" sz="2400" dirty="0"/>
              <a:t> </a:t>
            </a:r>
            <a:r>
              <a:rPr lang="en-US" sz="2400" dirty="0" err="1"/>
              <a:t>fungsi</a:t>
            </a:r>
            <a:r>
              <a:rPr lang="en-US" sz="2400" dirty="0"/>
              <a:t> yang </a:t>
            </a:r>
            <a:r>
              <a:rPr lang="en-US" sz="2400" dirty="0" err="1"/>
              <a:t>digunakan</a:t>
            </a:r>
            <a:r>
              <a:rPr lang="en-US" sz="2400" dirty="0"/>
              <a:t> </a:t>
            </a:r>
            <a:r>
              <a:rPr lang="en-US" sz="2400" dirty="0" err="1"/>
              <a:t>untuk</a:t>
            </a:r>
            <a:r>
              <a:rPr lang="en-US" sz="2400" dirty="0"/>
              <a:t> </a:t>
            </a:r>
            <a:r>
              <a:rPr lang="en-US" sz="2400" dirty="0" err="1"/>
              <a:t>mencari</a:t>
            </a:r>
            <a:r>
              <a:rPr lang="en-US" sz="2400" dirty="0"/>
              <a:t> </a:t>
            </a:r>
            <a:r>
              <a:rPr lang="en-US" sz="2400" dirty="0" err="1"/>
              <a:t>nilai</a:t>
            </a:r>
            <a:r>
              <a:rPr lang="en-US" sz="2400" dirty="0"/>
              <a:t> pada table </a:t>
            </a:r>
            <a:r>
              <a:rPr lang="en-US" sz="2400" dirty="0" err="1"/>
              <a:t>secara</a:t>
            </a:r>
            <a:r>
              <a:rPr lang="en-US" sz="2400" dirty="0"/>
              <a:t> horizontal</a:t>
            </a:r>
          </a:p>
          <a:p>
            <a:endParaRPr lang="en-US" sz="2400" dirty="0"/>
          </a:p>
          <a:p>
            <a:r>
              <a:rPr lang="en-US" sz="2400" dirty="0"/>
              <a:t>Fitur Excel :</a:t>
            </a:r>
          </a:p>
          <a:p>
            <a:r>
              <a:rPr lang="id-ID" sz="2400" dirty="0"/>
              <a:t>CONDISIONAL FORMATING </a:t>
            </a:r>
            <a:r>
              <a:rPr lang="en-ID" sz="2400" dirty="0" err="1"/>
              <a:t>adalah</a:t>
            </a:r>
            <a:r>
              <a:rPr lang="en-ID" sz="2400" dirty="0"/>
              <a:t> </a:t>
            </a:r>
            <a:r>
              <a:rPr lang="en-ID" sz="2400" dirty="0" err="1"/>
              <a:t>fitur</a:t>
            </a:r>
            <a:r>
              <a:rPr lang="en-ID" sz="2400" dirty="0"/>
              <a:t> yang </a:t>
            </a:r>
            <a:r>
              <a:rPr lang="en-ID" sz="2400" dirty="0" err="1"/>
              <a:t>dapat</a:t>
            </a:r>
            <a:r>
              <a:rPr lang="en-ID" sz="2400" dirty="0"/>
              <a:t> </a:t>
            </a:r>
            <a:r>
              <a:rPr lang="en-ID" sz="2400" dirty="0" err="1"/>
              <a:t>otomatis</a:t>
            </a:r>
            <a:r>
              <a:rPr lang="en-ID" sz="2400" dirty="0"/>
              <a:t> </a:t>
            </a:r>
            <a:r>
              <a:rPr lang="en-ID" sz="2400" dirty="0" err="1"/>
              <a:t>menerapkan</a:t>
            </a:r>
            <a:r>
              <a:rPr lang="en-ID" sz="2400" dirty="0"/>
              <a:t> form </a:t>
            </a:r>
            <a:r>
              <a:rPr lang="en-ID" sz="2400" dirty="0" err="1"/>
              <a:t>tertentu</a:t>
            </a:r>
            <a:r>
              <a:rPr lang="en-ID" sz="2400" dirty="0"/>
              <a:t> </a:t>
            </a:r>
            <a:r>
              <a:rPr lang="en-ID" sz="2400" dirty="0" err="1"/>
              <a:t>berdasarkan</a:t>
            </a:r>
            <a:r>
              <a:rPr lang="en-ID" sz="2400" dirty="0"/>
              <a:t> </a:t>
            </a:r>
            <a:r>
              <a:rPr lang="en-ID" sz="2400" dirty="0" err="1"/>
              <a:t>kondisi</a:t>
            </a:r>
            <a:r>
              <a:rPr lang="en-ID" sz="2400" dirty="0"/>
              <a:t> yang</a:t>
            </a:r>
            <a:r>
              <a:rPr lang="id-ID" sz="2400" dirty="0"/>
              <a:t> </a:t>
            </a:r>
            <a:r>
              <a:rPr lang="en-ID" sz="2400" dirty="0" err="1"/>
              <a:t>diingginkan</a:t>
            </a:r>
            <a:r>
              <a:rPr lang="en-ID" sz="2400" dirty="0"/>
              <a:t> </a:t>
            </a:r>
            <a:r>
              <a:rPr lang="en-ID" sz="2400" dirty="0" err="1"/>
              <a:t>atau</a:t>
            </a:r>
            <a:r>
              <a:rPr lang="en-ID" sz="2400" dirty="0"/>
              <a:t> </a:t>
            </a:r>
            <a:r>
              <a:rPr lang="en-ID" sz="2400" dirty="0" err="1"/>
              <a:t>diinput</a:t>
            </a:r>
            <a:r>
              <a:rPr lang="en-ID" sz="24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2E9795-BC2E-238E-783A-15AEEAC2FC9B}"/>
              </a:ext>
            </a:extLst>
          </p:cNvPr>
          <p:cNvSpPr txBox="1"/>
          <p:nvPr/>
        </p:nvSpPr>
        <p:spPr>
          <a:xfrm>
            <a:off x="5651500" y="622300"/>
            <a:ext cx="2519408" cy="646331"/>
          </a:xfrm>
          <a:prstGeom prst="rect">
            <a:avLst/>
          </a:prstGeom>
          <a:noFill/>
        </p:spPr>
        <p:txBody>
          <a:bodyPr wrap="none" rtlCol="0">
            <a:spAutoFit/>
          </a:bodyPr>
          <a:lstStyle/>
          <a:p>
            <a:r>
              <a:rPr lang="en-US" sz="3600" b="1" dirty="0">
                <a:solidFill>
                  <a:schemeClr val="accent4">
                    <a:lumMod val="75000"/>
                  </a:schemeClr>
                </a:solidFill>
              </a:rPr>
              <a:t>STUDY CASE</a:t>
            </a:r>
          </a:p>
        </p:txBody>
      </p:sp>
      <p:sp>
        <p:nvSpPr>
          <p:cNvPr id="9" name="TextBox 8">
            <a:extLst>
              <a:ext uri="{FF2B5EF4-FFF2-40B4-BE49-F238E27FC236}">
                <a16:creationId xmlns:a16="http://schemas.microsoft.com/office/drawing/2014/main" id="{AF88CFEB-797C-1668-EC22-7CFE1904ADA4}"/>
              </a:ext>
            </a:extLst>
          </p:cNvPr>
          <p:cNvSpPr txBox="1"/>
          <p:nvPr/>
        </p:nvSpPr>
        <p:spPr>
          <a:xfrm>
            <a:off x="1384300" y="7782578"/>
            <a:ext cx="13030200" cy="1015663"/>
          </a:xfrm>
          <a:prstGeom prst="rect">
            <a:avLst/>
          </a:prstGeom>
          <a:noFill/>
        </p:spPr>
        <p:txBody>
          <a:bodyPr wrap="square">
            <a:spAutoFit/>
          </a:bodyPr>
          <a:lstStyle/>
          <a:p>
            <a:r>
              <a:rPr lang="en-ID" sz="2000" dirty="0" err="1"/>
              <a:t>Untuk</a:t>
            </a:r>
            <a:r>
              <a:rPr lang="en-ID" sz="2000" dirty="0"/>
              <a:t> </a:t>
            </a:r>
            <a:r>
              <a:rPr lang="en-ID" sz="2000" dirty="0" err="1"/>
              <a:t>dapat</a:t>
            </a:r>
            <a:r>
              <a:rPr lang="en-ID" sz="2000" dirty="0"/>
              <a:t> </a:t>
            </a:r>
            <a:r>
              <a:rPr lang="en-ID" sz="2000" dirty="0" err="1"/>
              <a:t>mengisi</a:t>
            </a:r>
            <a:r>
              <a:rPr lang="en-ID" sz="2000" dirty="0"/>
              <a:t> </a:t>
            </a:r>
            <a:r>
              <a:rPr lang="en-ID" sz="2000" dirty="0" err="1"/>
              <a:t>kuantitas</a:t>
            </a:r>
            <a:r>
              <a:rPr lang="en-ID" sz="2000" dirty="0"/>
              <a:t> </a:t>
            </a:r>
            <a:r>
              <a:rPr lang="en-ID" sz="2000" dirty="0" err="1"/>
              <a:t>produk</a:t>
            </a:r>
            <a:r>
              <a:rPr lang="en-ID" sz="2000" dirty="0"/>
              <a:t> </a:t>
            </a:r>
            <a:r>
              <a:rPr lang="en-ID" sz="2000" dirty="0" err="1"/>
              <a:t>menggunakan</a:t>
            </a:r>
            <a:r>
              <a:rPr lang="en-ID" sz="2000" dirty="0"/>
              <a:t> </a:t>
            </a:r>
            <a:r>
              <a:rPr lang="en-ID" sz="2000" dirty="0" err="1"/>
              <a:t>rumus</a:t>
            </a:r>
            <a:r>
              <a:rPr lang="en-ID" sz="2000" dirty="0"/>
              <a:t> </a:t>
            </a:r>
            <a:r>
              <a:rPr lang="en-US" sz="2000" b="1" dirty="0"/>
              <a:t>SUMIFS($G$5:$G$154;$C$5:$C$154;L$4;$F$5:$F$154;$K5)</a:t>
            </a:r>
            <a:r>
              <a:rPr lang="en-ID" sz="2000" b="1" dirty="0"/>
              <a:t>. </a:t>
            </a:r>
          </a:p>
          <a:p>
            <a:r>
              <a:rPr lang="en-ID" sz="2000" dirty="0" err="1"/>
              <a:t>Untuk</a:t>
            </a:r>
            <a:r>
              <a:rPr lang="en-ID" sz="2000" dirty="0"/>
              <a:t> </a:t>
            </a:r>
            <a:r>
              <a:rPr lang="en-ID" sz="2000" dirty="0" err="1"/>
              <a:t>dapat</a:t>
            </a:r>
            <a:r>
              <a:rPr lang="en-ID" sz="2000" dirty="0"/>
              <a:t> </a:t>
            </a:r>
            <a:r>
              <a:rPr lang="en-ID" sz="2000" dirty="0" err="1"/>
              <a:t>mengisi</a:t>
            </a:r>
            <a:r>
              <a:rPr lang="en-ID" sz="2000" dirty="0"/>
              <a:t> total </a:t>
            </a:r>
            <a:r>
              <a:rPr lang="en-ID" sz="2000" dirty="0" err="1"/>
              <a:t>kuantitas</a:t>
            </a:r>
            <a:r>
              <a:rPr lang="en-ID" sz="2000" dirty="0"/>
              <a:t> </a:t>
            </a:r>
            <a:r>
              <a:rPr lang="en-ID" sz="2000" dirty="0" err="1"/>
              <a:t>produk</a:t>
            </a:r>
            <a:r>
              <a:rPr lang="en-ID" sz="2000" dirty="0"/>
              <a:t> </a:t>
            </a:r>
            <a:r>
              <a:rPr lang="en-ID" sz="2000" dirty="0" err="1"/>
              <a:t>menggunakan</a:t>
            </a:r>
            <a:r>
              <a:rPr lang="en-ID" sz="2000" dirty="0"/>
              <a:t> </a:t>
            </a:r>
            <a:r>
              <a:rPr lang="en-ID" sz="2000" dirty="0" err="1"/>
              <a:t>rumus</a:t>
            </a:r>
            <a:r>
              <a:rPr lang="en-ID" sz="2000" dirty="0"/>
              <a:t>  </a:t>
            </a:r>
            <a:r>
              <a:rPr lang="en-ID" sz="2000" b="1" dirty="0"/>
              <a:t>SUM(L5:P5)</a:t>
            </a:r>
            <a:r>
              <a:rPr lang="en-ID" sz="2000" dirty="0"/>
              <a:t>.</a:t>
            </a:r>
          </a:p>
          <a:p>
            <a:endParaRPr lang="en-ID" sz="2000" b="1" dirty="0"/>
          </a:p>
        </p:txBody>
      </p:sp>
      <p:pic>
        <p:nvPicPr>
          <p:cNvPr id="11" name="Picture 10">
            <a:extLst>
              <a:ext uri="{FF2B5EF4-FFF2-40B4-BE49-F238E27FC236}">
                <a16:creationId xmlns:a16="http://schemas.microsoft.com/office/drawing/2014/main" id="{6C2FE6C9-064E-473E-7B41-13A4C564DC30}"/>
              </a:ext>
            </a:extLst>
          </p:cNvPr>
          <p:cNvPicPr>
            <a:picLocks noChangeAspect="1"/>
          </p:cNvPicPr>
          <p:nvPr/>
        </p:nvPicPr>
        <p:blipFill>
          <a:blip r:embed="rId2"/>
          <a:stretch>
            <a:fillRect/>
          </a:stretch>
        </p:blipFill>
        <p:spPr>
          <a:xfrm>
            <a:off x="2123921" y="1928759"/>
            <a:ext cx="4800600" cy="2407819"/>
          </a:xfrm>
          <a:prstGeom prst="rect">
            <a:avLst/>
          </a:prstGeom>
        </p:spPr>
      </p:pic>
      <p:pic>
        <p:nvPicPr>
          <p:cNvPr id="13" name="Picture 12">
            <a:extLst>
              <a:ext uri="{FF2B5EF4-FFF2-40B4-BE49-F238E27FC236}">
                <a16:creationId xmlns:a16="http://schemas.microsoft.com/office/drawing/2014/main" id="{8E382B91-B0EF-EFAE-5B04-0F7F32829476}"/>
              </a:ext>
            </a:extLst>
          </p:cNvPr>
          <p:cNvPicPr>
            <a:picLocks noChangeAspect="1"/>
          </p:cNvPicPr>
          <p:nvPr/>
        </p:nvPicPr>
        <p:blipFill>
          <a:blip r:embed="rId3"/>
          <a:stretch>
            <a:fillRect/>
          </a:stretch>
        </p:blipFill>
        <p:spPr>
          <a:xfrm>
            <a:off x="2162021" y="5080980"/>
            <a:ext cx="9525000" cy="2375158"/>
          </a:xfrm>
          <a:prstGeom prst="rect">
            <a:avLst/>
          </a:prstGeom>
        </p:spPr>
      </p:pic>
      <p:sp>
        <p:nvSpPr>
          <p:cNvPr id="14" name="TextBox 13">
            <a:extLst>
              <a:ext uri="{FF2B5EF4-FFF2-40B4-BE49-F238E27FC236}">
                <a16:creationId xmlns:a16="http://schemas.microsoft.com/office/drawing/2014/main" id="{7418839A-CA65-4054-46F7-CFD067206C93}"/>
              </a:ext>
            </a:extLst>
          </p:cNvPr>
          <p:cNvSpPr txBox="1"/>
          <p:nvPr/>
        </p:nvSpPr>
        <p:spPr>
          <a:xfrm>
            <a:off x="7099300" y="2394004"/>
            <a:ext cx="7554350" cy="1631216"/>
          </a:xfrm>
          <a:prstGeom prst="rect">
            <a:avLst/>
          </a:prstGeom>
          <a:noFill/>
        </p:spPr>
        <p:txBody>
          <a:bodyPr wrap="square">
            <a:spAutoFit/>
          </a:bodyPr>
          <a:lstStyle/>
          <a:p>
            <a:r>
              <a:rPr lang="en-ID" sz="2000" dirty="0" err="1"/>
              <a:t>Untuk</a:t>
            </a:r>
            <a:r>
              <a:rPr lang="en-ID" sz="2000" dirty="0"/>
              <a:t> </a:t>
            </a:r>
            <a:r>
              <a:rPr lang="en-ID" sz="2000" dirty="0" err="1"/>
              <a:t>dapat</a:t>
            </a:r>
            <a:r>
              <a:rPr lang="en-ID" sz="2000" dirty="0"/>
              <a:t> </a:t>
            </a:r>
            <a:r>
              <a:rPr lang="en-ID" sz="2000" dirty="0" err="1"/>
              <a:t>mengisi</a:t>
            </a:r>
            <a:r>
              <a:rPr lang="en-ID" sz="2000" dirty="0"/>
              <a:t> sales person </a:t>
            </a:r>
            <a:r>
              <a:rPr lang="en-ID" sz="2000" dirty="0" err="1"/>
              <a:t>menggunakan</a:t>
            </a:r>
            <a:r>
              <a:rPr lang="en-ID" sz="2000" dirty="0"/>
              <a:t> </a:t>
            </a:r>
            <a:r>
              <a:rPr lang="en-ID" sz="2000" dirty="0" err="1"/>
              <a:t>rumus</a:t>
            </a:r>
            <a:r>
              <a:rPr lang="en-ID" sz="2000" dirty="0"/>
              <a:t> </a:t>
            </a:r>
          </a:p>
          <a:p>
            <a:r>
              <a:rPr lang="en-ID" sz="2000" b="1" dirty="0"/>
              <a:t>HLOOKUP(C5;'Instruksi &amp; Dataset'!$I$14:$M$15;2;FALSE).</a:t>
            </a:r>
          </a:p>
          <a:p>
            <a:endParaRPr lang="en-ID" sz="2000" dirty="0"/>
          </a:p>
          <a:p>
            <a:r>
              <a:rPr lang="en-ID" sz="2000" dirty="0" err="1"/>
              <a:t>Untuk</a:t>
            </a:r>
            <a:r>
              <a:rPr lang="en-ID" sz="2000" dirty="0"/>
              <a:t> </a:t>
            </a:r>
            <a:r>
              <a:rPr lang="en-ID" sz="2000" dirty="0" err="1"/>
              <a:t>mengisi</a:t>
            </a:r>
            <a:r>
              <a:rPr lang="en-ID" sz="2000" dirty="0"/>
              <a:t> nama </a:t>
            </a:r>
            <a:r>
              <a:rPr lang="en-ID" sz="2000" dirty="0" err="1"/>
              <a:t>produk</a:t>
            </a:r>
            <a:r>
              <a:rPr lang="en-ID" sz="2000" dirty="0"/>
              <a:t> </a:t>
            </a:r>
            <a:r>
              <a:rPr lang="en-ID" sz="2000" dirty="0" err="1"/>
              <a:t>menggunakan</a:t>
            </a:r>
            <a:r>
              <a:rPr lang="en-ID" sz="2000" dirty="0"/>
              <a:t> </a:t>
            </a:r>
            <a:r>
              <a:rPr lang="en-ID" sz="2000" dirty="0" err="1"/>
              <a:t>rumus</a:t>
            </a:r>
            <a:r>
              <a:rPr lang="en-ID" sz="2000" dirty="0"/>
              <a:t> </a:t>
            </a:r>
            <a:r>
              <a:rPr lang="en-ID" sz="2000" b="1" dirty="0"/>
              <a:t>VLOOKUP(E5;'Instruksi &amp; Dataset'!$H$19:$J$27;2;FALSE).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94B4D3-5F40-47F5-D4D6-8B3BF59030B7}"/>
              </a:ext>
            </a:extLst>
          </p:cNvPr>
          <p:cNvPicPr>
            <a:picLocks noChangeAspect="1"/>
          </p:cNvPicPr>
          <p:nvPr/>
        </p:nvPicPr>
        <p:blipFill>
          <a:blip r:embed="rId3"/>
          <a:stretch>
            <a:fillRect/>
          </a:stretch>
        </p:blipFill>
        <p:spPr>
          <a:xfrm>
            <a:off x="774700" y="1612900"/>
            <a:ext cx="7699908" cy="2209800"/>
          </a:xfrm>
          <a:prstGeom prst="rect">
            <a:avLst/>
          </a:prstGeom>
        </p:spPr>
      </p:pic>
      <p:sp>
        <p:nvSpPr>
          <p:cNvPr id="5" name="TextBox 4">
            <a:extLst>
              <a:ext uri="{FF2B5EF4-FFF2-40B4-BE49-F238E27FC236}">
                <a16:creationId xmlns:a16="http://schemas.microsoft.com/office/drawing/2014/main" id="{302BF670-210E-8C1B-F4C9-9EDC7C49F0E7}"/>
              </a:ext>
            </a:extLst>
          </p:cNvPr>
          <p:cNvSpPr txBox="1"/>
          <p:nvPr/>
        </p:nvSpPr>
        <p:spPr>
          <a:xfrm>
            <a:off x="8623300" y="2363857"/>
            <a:ext cx="7554350" cy="707886"/>
          </a:xfrm>
          <a:prstGeom prst="rect">
            <a:avLst/>
          </a:prstGeom>
          <a:noFill/>
        </p:spPr>
        <p:txBody>
          <a:bodyPr wrap="square">
            <a:spAutoFit/>
          </a:bodyPr>
          <a:lstStyle/>
          <a:p>
            <a:r>
              <a:rPr lang="en-ID" sz="2000" dirty="0" err="1"/>
              <a:t>Untuk</a:t>
            </a:r>
            <a:r>
              <a:rPr lang="en-ID" sz="2000" dirty="0"/>
              <a:t> </a:t>
            </a:r>
            <a:r>
              <a:rPr lang="en-ID" sz="2000" dirty="0" err="1"/>
              <a:t>dapat</a:t>
            </a:r>
            <a:r>
              <a:rPr lang="en-ID" sz="2000" dirty="0"/>
              <a:t> </a:t>
            </a:r>
            <a:r>
              <a:rPr lang="en-ID" sz="2000" dirty="0" err="1"/>
              <a:t>mengisi</a:t>
            </a:r>
            <a:r>
              <a:rPr lang="en-ID" sz="2000" dirty="0"/>
              <a:t> </a:t>
            </a:r>
            <a:r>
              <a:rPr lang="en-ID" sz="2000" dirty="0" err="1"/>
              <a:t>capaian</a:t>
            </a:r>
            <a:r>
              <a:rPr lang="en-ID" sz="2000" dirty="0"/>
              <a:t> target </a:t>
            </a:r>
            <a:r>
              <a:rPr lang="en-ID" sz="2000" dirty="0" err="1"/>
              <a:t>menggunakan</a:t>
            </a:r>
            <a:endParaRPr lang="en-ID" sz="2000" dirty="0"/>
          </a:p>
          <a:p>
            <a:r>
              <a:rPr lang="en-ID" sz="2000" dirty="0" err="1"/>
              <a:t>rumus</a:t>
            </a:r>
            <a:r>
              <a:rPr lang="en-ID" sz="2000" dirty="0"/>
              <a:t> </a:t>
            </a:r>
            <a:r>
              <a:rPr lang="en-ID" sz="2000" b="1" dirty="0"/>
              <a:t>IF(L18&gt;=M18;"Target </a:t>
            </a:r>
            <a:r>
              <a:rPr lang="en-ID" sz="2000" b="1" dirty="0" err="1"/>
              <a:t>Tercapai</a:t>
            </a:r>
            <a:r>
              <a:rPr lang="en-ID" sz="2000" b="1" dirty="0"/>
              <a:t>";"Di </a:t>
            </a:r>
            <a:r>
              <a:rPr lang="en-ID" sz="2000" b="1" dirty="0" err="1"/>
              <a:t>bawah</a:t>
            </a:r>
            <a:r>
              <a:rPr lang="en-ID" sz="2000" b="1" dirty="0"/>
              <a:t> Target")</a:t>
            </a:r>
          </a:p>
        </p:txBody>
      </p:sp>
      <p:pic>
        <p:nvPicPr>
          <p:cNvPr id="7" name="Picture 6">
            <a:extLst>
              <a:ext uri="{FF2B5EF4-FFF2-40B4-BE49-F238E27FC236}">
                <a16:creationId xmlns:a16="http://schemas.microsoft.com/office/drawing/2014/main" id="{80CCD85F-FED5-D682-7770-5B507CF5EF86}"/>
              </a:ext>
            </a:extLst>
          </p:cNvPr>
          <p:cNvPicPr>
            <a:picLocks noChangeAspect="1"/>
          </p:cNvPicPr>
          <p:nvPr/>
        </p:nvPicPr>
        <p:blipFill>
          <a:blip r:embed="rId4"/>
          <a:stretch>
            <a:fillRect/>
          </a:stretch>
        </p:blipFill>
        <p:spPr>
          <a:xfrm>
            <a:off x="774700" y="4052523"/>
            <a:ext cx="12420600" cy="1543076"/>
          </a:xfrm>
          <a:prstGeom prst="rect">
            <a:avLst/>
          </a:prstGeom>
        </p:spPr>
      </p:pic>
      <p:sp>
        <p:nvSpPr>
          <p:cNvPr id="9" name="TextBox 8">
            <a:extLst>
              <a:ext uri="{FF2B5EF4-FFF2-40B4-BE49-F238E27FC236}">
                <a16:creationId xmlns:a16="http://schemas.microsoft.com/office/drawing/2014/main" id="{68F8F56B-8913-456D-E437-9D7E93AEF7B0}"/>
              </a:ext>
            </a:extLst>
          </p:cNvPr>
          <p:cNvSpPr txBox="1"/>
          <p:nvPr/>
        </p:nvSpPr>
        <p:spPr>
          <a:xfrm>
            <a:off x="771964" y="5785731"/>
            <a:ext cx="14341036" cy="400110"/>
          </a:xfrm>
          <a:prstGeom prst="rect">
            <a:avLst/>
          </a:prstGeom>
          <a:noFill/>
        </p:spPr>
        <p:txBody>
          <a:bodyPr wrap="square">
            <a:spAutoFit/>
          </a:bodyPr>
          <a:lstStyle/>
          <a:p>
            <a:r>
              <a:rPr lang="en-US" sz="2000" dirty="0" err="1"/>
              <a:t>Untuk</a:t>
            </a:r>
            <a:r>
              <a:rPr lang="en-US" sz="2000" dirty="0"/>
              <a:t> </a:t>
            </a:r>
            <a:r>
              <a:rPr lang="en-US" sz="2000" dirty="0" err="1"/>
              <a:t>dapat</a:t>
            </a:r>
            <a:r>
              <a:rPr lang="en-US" sz="2000" dirty="0"/>
              <a:t> </a:t>
            </a:r>
            <a:r>
              <a:rPr lang="en-US" sz="2000" dirty="0" err="1"/>
              <a:t>mengisi</a:t>
            </a:r>
            <a:r>
              <a:rPr lang="en-US" sz="2000" dirty="0"/>
              <a:t> </a:t>
            </a:r>
            <a:r>
              <a:rPr lang="en-US" sz="2000" dirty="0" err="1"/>
              <a:t>pioritas</a:t>
            </a:r>
            <a:r>
              <a:rPr lang="en-US" sz="2000" dirty="0"/>
              <a:t> </a:t>
            </a:r>
            <a:r>
              <a:rPr lang="en-US" sz="2000" dirty="0" err="1"/>
              <a:t>promosi</a:t>
            </a:r>
            <a:r>
              <a:rPr lang="en-US" sz="2000" dirty="0"/>
              <a:t> </a:t>
            </a:r>
            <a:r>
              <a:rPr lang="en-US" sz="2000" dirty="0" err="1"/>
              <a:t>disetiap</a:t>
            </a:r>
            <a:r>
              <a:rPr lang="en-US" sz="2000" dirty="0"/>
              <a:t> </a:t>
            </a:r>
            <a:r>
              <a:rPr lang="en-US" sz="2000" dirty="0" err="1"/>
              <a:t>kota</a:t>
            </a:r>
            <a:r>
              <a:rPr lang="en-US" sz="2000" dirty="0"/>
              <a:t> </a:t>
            </a:r>
            <a:r>
              <a:rPr lang="en-US" sz="2000" dirty="0" err="1"/>
              <a:t>maka</a:t>
            </a:r>
            <a:r>
              <a:rPr lang="en-US" sz="2000" dirty="0"/>
              <a:t> </a:t>
            </a:r>
            <a:r>
              <a:rPr lang="en-US" sz="2000" dirty="0" err="1"/>
              <a:t>menggunakan</a:t>
            </a:r>
            <a:r>
              <a:rPr lang="en-US" sz="2000" dirty="0"/>
              <a:t> </a:t>
            </a:r>
            <a:r>
              <a:rPr lang="en-US" sz="2000" dirty="0" err="1"/>
              <a:t>rumus</a:t>
            </a:r>
            <a:r>
              <a:rPr lang="en-US" sz="2000" dirty="0"/>
              <a:t> </a:t>
            </a:r>
            <a:r>
              <a:rPr lang="en-US" sz="2000" b="1" dirty="0"/>
              <a:t>MAX(INDEX($L$5:$P$12;0;MATCH(L42;$L$4:$P$4;0)))</a:t>
            </a:r>
            <a:endParaRPr lang="en-ID" sz="2000" b="1" dirty="0"/>
          </a:p>
        </p:txBody>
      </p:sp>
      <p:pic>
        <p:nvPicPr>
          <p:cNvPr id="11" name="Picture 10">
            <a:extLst>
              <a:ext uri="{FF2B5EF4-FFF2-40B4-BE49-F238E27FC236}">
                <a16:creationId xmlns:a16="http://schemas.microsoft.com/office/drawing/2014/main" id="{5A53FD83-4CE0-34EF-3157-EB90BCCA5427}"/>
              </a:ext>
            </a:extLst>
          </p:cNvPr>
          <p:cNvPicPr>
            <a:picLocks noChangeAspect="1"/>
          </p:cNvPicPr>
          <p:nvPr/>
        </p:nvPicPr>
        <p:blipFill>
          <a:blip r:embed="rId5"/>
          <a:stretch>
            <a:fillRect/>
          </a:stretch>
        </p:blipFill>
        <p:spPr>
          <a:xfrm>
            <a:off x="771965" y="6470955"/>
            <a:ext cx="5785199" cy="1087675"/>
          </a:xfrm>
          <a:prstGeom prst="rect">
            <a:avLst/>
          </a:prstGeom>
        </p:spPr>
      </p:pic>
      <p:sp>
        <p:nvSpPr>
          <p:cNvPr id="13" name="TextBox 12">
            <a:extLst>
              <a:ext uri="{FF2B5EF4-FFF2-40B4-BE49-F238E27FC236}">
                <a16:creationId xmlns:a16="http://schemas.microsoft.com/office/drawing/2014/main" id="{87F80625-11DF-88EA-B9E8-2B1A7CFB707A}"/>
              </a:ext>
            </a:extLst>
          </p:cNvPr>
          <p:cNvSpPr txBox="1"/>
          <p:nvPr/>
        </p:nvSpPr>
        <p:spPr>
          <a:xfrm>
            <a:off x="771965" y="7794929"/>
            <a:ext cx="17271686" cy="707886"/>
          </a:xfrm>
          <a:prstGeom prst="rect">
            <a:avLst/>
          </a:prstGeom>
          <a:noFill/>
        </p:spPr>
        <p:txBody>
          <a:bodyPr wrap="square">
            <a:spAutoFit/>
          </a:bodyPr>
          <a:lstStyle/>
          <a:p>
            <a:r>
              <a:rPr lang="en-US" sz="2000" dirty="0" err="1"/>
              <a:t>Untuk</a:t>
            </a:r>
            <a:r>
              <a:rPr lang="en-US" sz="2000" dirty="0"/>
              <a:t> </a:t>
            </a:r>
            <a:r>
              <a:rPr lang="en-US" sz="2000" dirty="0" err="1"/>
              <a:t>dapat</a:t>
            </a:r>
            <a:r>
              <a:rPr lang="en-US" sz="2000" dirty="0"/>
              <a:t> </a:t>
            </a:r>
            <a:r>
              <a:rPr lang="en-US" sz="2000" dirty="0" err="1"/>
              <a:t>mengisi</a:t>
            </a:r>
            <a:r>
              <a:rPr lang="en-US" sz="2000" dirty="0"/>
              <a:t> </a:t>
            </a:r>
            <a:r>
              <a:rPr lang="en-US" sz="2000" dirty="0" err="1"/>
              <a:t>kota</a:t>
            </a:r>
            <a:r>
              <a:rPr lang="en-US" sz="2000" dirty="0"/>
              <a:t> </a:t>
            </a:r>
            <a:r>
              <a:rPr lang="en-US" sz="2000" dirty="0" err="1"/>
              <a:t>dengan</a:t>
            </a:r>
            <a:r>
              <a:rPr lang="en-US" sz="2000" dirty="0"/>
              <a:t> </a:t>
            </a:r>
            <a:r>
              <a:rPr lang="en-US" sz="2000" dirty="0" err="1"/>
              <a:t>performa</a:t>
            </a:r>
            <a:r>
              <a:rPr lang="en-US" sz="2000" dirty="0"/>
              <a:t> </a:t>
            </a:r>
            <a:r>
              <a:rPr lang="en-US" sz="2000" dirty="0" err="1"/>
              <a:t>terendah</a:t>
            </a:r>
            <a:r>
              <a:rPr lang="en-US" sz="2000" dirty="0"/>
              <a:t> </a:t>
            </a:r>
            <a:r>
              <a:rPr lang="en-US" sz="2000" dirty="0" err="1"/>
              <a:t>maka</a:t>
            </a:r>
            <a:r>
              <a:rPr lang="en-US" sz="2000" dirty="0"/>
              <a:t> </a:t>
            </a:r>
            <a:r>
              <a:rPr lang="en-US" sz="2000" dirty="0" err="1"/>
              <a:t>menggunakan</a:t>
            </a:r>
            <a:r>
              <a:rPr lang="en-US" sz="2000" dirty="0"/>
              <a:t> </a:t>
            </a:r>
            <a:r>
              <a:rPr lang="en-US" sz="2000" dirty="0" err="1"/>
              <a:t>rumus</a:t>
            </a:r>
            <a:r>
              <a:rPr lang="en-US" sz="2000" dirty="0"/>
              <a:t> </a:t>
            </a:r>
            <a:r>
              <a:rPr lang="en-US" sz="2000" b="1" dirty="0"/>
              <a:t>INDEX($K$18:$K$22;MATCH</a:t>
            </a:r>
          </a:p>
          <a:p>
            <a:r>
              <a:rPr lang="en-US" sz="2000" b="1" dirty="0"/>
              <a:t>(SMALL(($L$18:$L$22);1);$L$18:$L$22;0)). </a:t>
            </a:r>
            <a:endParaRPr lang="en-ID" sz="2000" b="1" dirty="0"/>
          </a:p>
        </p:txBody>
      </p:sp>
      <p:sp>
        <p:nvSpPr>
          <p:cNvPr id="14" name="TextBox 13">
            <a:extLst>
              <a:ext uri="{FF2B5EF4-FFF2-40B4-BE49-F238E27FC236}">
                <a16:creationId xmlns:a16="http://schemas.microsoft.com/office/drawing/2014/main" id="{9B4A8D1D-9AF0-F9E5-4AD0-76EAA93D1990}"/>
              </a:ext>
            </a:extLst>
          </p:cNvPr>
          <p:cNvSpPr txBox="1"/>
          <p:nvPr/>
        </p:nvSpPr>
        <p:spPr>
          <a:xfrm>
            <a:off x="5651500" y="622300"/>
            <a:ext cx="2519408" cy="646331"/>
          </a:xfrm>
          <a:prstGeom prst="rect">
            <a:avLst/>
          </a:prstGeom>
          <a:noFill/>
        </p:spPr>
        <p:txBody>
          <a:bodyPr wrap="none" rtlCol="0">
            <a:spAutoFit/>
          </a:bodyPr>
          <a:lstStyle/>
          <a:p>
            <a:r>
              <a:rPr lang="en-US" sz="3600" b="1" dirty="0">
                <a:solidFill>
                  <a:schemeClr val="accent4">
                    <a:lumMod val="75000"/>
                  </a:schemeClr>
                </a:solidFill>
              </a:rPr>
              <a:t>STUDY CASE</a:t>
            </a:r>
          </a:p>
        </p:txBody>
      </p:sp>
      <p:sp>
        <p:nvSpPr>
          <p:cNvPr id="16" name="TextBox 15">
            <a:extLst>
              <a:ext uri="{FF2B5EF4-FFF2-40B4-BE49-F238E27FC236}">
                <a16:creationId xmlns:a16="http://schemas.microsoft.com/office/drawing/2014/main" id="{B102C4E5-2181-2A5F-4A12-4093FCB3F8C6}"/>
              </a:ext>
            </a:extLst>
          </p:cNvPr>
          <p:cNvSpPr txBox="1"/>
          <p:nvPr/>
        </p:nvSpPr>
        <p:spPr>
          <a:xfrm>
            <a:off x="8649014" y="1710948"/>
            <a:ext cx="8539088" cy="707886"/>
          </a:xfrm>
          <a:prstGeom prst="rect">
            <a:avLst/>
          </a:prstGeom>
          <a:noFill/>
        </p:spPr>
        <p:txBody>
          <a:bodyPr wrap="square">
            <a:spAutoFit/>
          </a:bodyPr>
          <a:lstStyle/>
          <a:p>
            <a:r>
              <a:rPr lang="en-ID" sz="2000" dirty="0" err="1"/>
              <a:t>Untuk</a:t>
            </a:r>
            <a:r>
              <a:rPr lang="en-ID" sz="2000" dirty="0"/>
              <a:t> </a:t>
            </a:r>
            <a:r>
              <a:rPr lang="en-ID" sz="2000" dirty="0" err="1"/>
              <a:t>mengisi</a:t>
            </a:r>
            <a:r>
              <a:rPr lang="en-ID" sz="2000" dirty="0"/>
              <a:t> </a:t>
            </a:r>
            <a:r>
              <a:rPr lang="en-ID" sz="2000" dirty="0" err="1"/>
              <a:t>realisasi</a:t>
            </a:r>
            <a:r>
              <a:rPr lang="en-ID" sz="2000" dirty="0"/>
              <a:t> </a:t>
            </a:r>
            <a:r>
              <a:rPr lang="en-ID" sz="2000" dirty="0" err="1"/>
              <a:t>penjualan</a:t>
            </a:r>
            <a:r>
              <a:rPr lang="en-ID" sz="2000" dirty="0"/>
              <a:t> </a:t>
            </a:r>
            <a:r>
              <a:rPr lang="en-ID" sz="2000" dirty="0" err="1"/>
              <a:t>mengguanakan</a:t>
            </a:r>
            <a:r>
              <a:rPr lang="en-ID" sz="2000" dirty="0"/>
              <a:t> </a:t>
            </a:r>
            <a:r>
              <a:rPr lang="en-ID" sz="2000" dirty="0" err="1"/>
              <a:t>rumus</a:t>
            </a:r>
            <a:r>
              <a:rPr lang="en-ID" sz="2000" dirty="0"/>
              <a:t> </a:t>
            </a:r>
          </a:p>
          <a:p>
            <a:r>
              <a:rPr lang="en-ID" sz="2000" b="1" dirty="0"/>
              <a:t>SUMIF($C$5:$C$154;K18;$I$5:$I$154)</a:t>
            </a:r>
          </a:p>
        </p:txBody>
      </p:sp>
    </p:spTree>
    <p:extLst>
      <p:ext uri="{BB962C8B-B14F-4D97-AF65-F5344CB8AC3E}">
        <p14:creationId xmlns:p14="http://schemas.microsoft.com/office/powerpoint/2010/main" val="2787752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5CF652-BCAB-72C9-FB84-7CC4670327E6}"/>
              </a:ext>
            </a:extLst>
          </p:cNvPr>
          <p:cNvPicPr>
            <a:picLocks noChangeAspect="1"/>
          </p:cNvPicPr>
          <p:nvPr/>
        </p:nvPicPr>
        <p:blipFill>
          <a:blip r:embed="rId2"/>
          <a:stretch>
            <a:fillRect/>
          </a:stretch>
        </p:blipFill>
        <p:spPr>
          <a:xfrm>
            <a:off x="1003300" y="1422225"/>
            <a:ext cx="6392167" cy="1257475"/>
          </a:xfrm>
          <a:prstGeom prst="rect">
            <a:avLst/>
          </a:prstGeom>
        </p:spPr>
      </p:pic>
      <p:pic>
        <p:nvPicPr>
          <p:cNvPr id="6" name="Picture 5">
            <a:extLst>
              <a:ext uri="{FF2B5EF4-FFF2-40B4-BE49-F238E27FC236}">
                <a16:creationId xmlns:a16="http://schemas.microsoft.com/office/drawing/2014/main" id="{E022A849-B4AE-1459-F7C5-4F2161911D91}"/>
              </a:ext>
            </a:extLst>
          </p:cNvPr>
          <p:cNvPicPr>
            <a:picLocks noChangeAspect="1"/>
          </p:cNvPicPr>
          <p:nvPr/>
        </p:nvPicPr>
        <p:blipFill>
          <a:blip r:embed="rId3"/>
          <a:stretch>
            <a:fillRect/>
          </a:stretch>
        </p:blipFill>
        <p:spPr>
          <a:xfrm>
            <a:off x="1612900" y="4292600"/>
            <a:ext cx="2181529" cy="3134162"/>
          </a:xfrm>
          <a:prstGeom prst="rect">
            <a:avLst/>
          </a:prstGeom>
        </p:spPr>
      </p:pic>
      <p:pic>
        <p:nvPicPr>
          <p:cNvPr id="12" name="Picture 11">
            <a:extLst>
              <a:ext uri="{FF2B5EF4-FFF2-40B4-BE49-F238E27FC236}">
                <a16:creationId xmlns:a16="http://schemas.microsoft.com/office/drawing/2014/main" id="{835B5B4A-C250-4B0E-A312-BDFF07FB056A}"/>
              </a:ext>
            </a:extLst>
          </p:cNvPr>
          <p:cNvPicPr>
            <a:picLocks noChangeAspect="1"/>
          </p:cNvPicPr>
          <p:nvPr/>
        </p:nvPicPr>
        <p:blipFill>
          <a:blip r:embed="rId4"/>
          <a:stretch>
            <a:fillRect/>
          </a:stretch>
        </p:blipFill>
        <p:spPr>
          <a:xfrm>
            <a:off x="8547100" y="1784437"/>
            <a:ext cx="5115639" cy="4915586"/>
          </a:xfrm>
          <a:prstGeom prst="rect">
            <a:avLst/>
          </a:prstGeom>
        </p:spPr>
      </p:pic>
      <p:pic>
        <p:nvPicPr>
          <p:cNvPr id="14" name="Picture 13">
            <a:extLst>
              <a:ext uri="{FF2B5EF4-FFF2-40B4-BE49-F238E27FC236}">
                <a16:creationId xmlns:a16="http://schemas.microsoft.com/office/drawing/2014/main" id="{01A86D0C-A492-610B-9255-ACE2E310726A}"/>
              </a:ext>
            </a:extLst>
          </p:cNvPr>
          <p:cNvPicPr>
            <a:picLocks noChangeAspect="1"/>
          </p:cNvPicPr>
          <p:nvPr/>
        </p:nvPicPr>
        <p:blipFill>
          <a:blip r:embed="rId5"/>
          <a:stretch>
            <a:fillRect/>
          </a:stretch>
        </p:blipFill>
        <p:spPr>
          <a:xfrm>
            <a:off x="4398840" y="3594100"/>
            <a:ext cx="3924848" cy="4143953"/>
          </a:xfrm>
          <a:prstGeom prst="rect">
            <a:avLst/>
          </a:prstGeom>
        </p:spPr>
      </p:pic>
      <p:sp>
        <p:nvSpPr>
          <p:cNvPr id="15" name="TextBox 14">
            <a:extLst>
              <a:ext uri="{FF2B5EF4-FFF2-40B4-BE49-F238E27FC236}">
                <a16:creationId xmlns:a16="http://schemas.microsoft.com/office/drawing/2014/main" id="{2F05D711-44ED-8F8D-32F8-16E30138AE8C}"/>
              </a:ext>
            </a:extLst>
          </p:cNvPr>
          <p:cNvSpPr txBox="1"/>
          <p:nvPr/>
        </p:nvSpPr>
        <p:spPr>
          <a:xfrm>
            <a:off x="622300" y="7842067"/>
            <a:ext cx="17271686" cy="1631216"/>
          </a:xfrm>
          <a:prstGeom prst="rect">
            <a:avLst/>
          </a:prstGeom>
          <a:noFill/>
        </p:spPr>
        <p:txBody>
          <a:bodyPr wrap="square">
            <a:spAutoFit/>
          </a:bodyPr>
          <a:lstStyle/>
          <a:p>
            <a:pPr marL="457200" indent="-457200">
              <a:buAutoNum type="arabicPeriod"/>
            </a:pPr>
            <a:r>
              <a:rPr lang="en-US" sz="2000" dirty="0"/>
              <a:t>Blok range </a:t>
            </a:r>
            <a:r>
              <a:rPr lang="id-ID" sz="2000" dirty="0"/>
              <a:t>K</a:t>
            </a:r>
            <a:r>
              <a:rPr lang="en-US" sz="2000" dirty="0"/>
              <a:t>18 </a:t>
            </a:r>
            <a:r>
              <a:rPr lang="en-US" sz="2000" dirty="0" err="1"/>
              <a:t>sampai</a:t>
            </a:r>
            <a:r>
              <a:rPr lang="en-US" sz="2000" dirty="0"/>
              <a:t> N22.</a:t>
            </a:r>
          </a:p>
          <a:p>
            <a:pPr marL="457200" indent="-457200">
              <a:buAutoNum type="arabicPeriod"/>
            </a:pPr>
            <a:r>
              <a:rPr lang="en-US" sz="2000" dirty="0" err="1"/>
              <a:t>Klik</a:t>
            </a:r>
            <a:r>
              <a:rPr lang="en-US" sz="2000" dirty="0"/>
              <a:t> </a:t>
            </a:r>
            <a:r>
              <a:rPr lang="en-US" sz="2000" dirty="0" err="1"/>
              <a:t>Condisional</a:t>
            </a:r>
            <a:r>
              <a:rPr lang="en-US" sz="2000" dirty="0"/>
              <a:t> </a:t>
            </a:r>
            <a:r>
              <a:rPr lang="en-US" sz="2000" dirty="0" err="1"/>
              <a:t>Formating</a:t>
            </a:r>
            <a:r>
              <a:rPr lang="en-US" sz="2000" dirty="0"/>
              <a:t>.</a:t>
            </a:r>
          </a:p>
          <a:p>
            <a:pPr marL="457200" indent="-457200">
              <a:buAutoNum type="arabicPeriod"/>
            </a:pPr>
            <a:r>
              <a:rPr lang="en-US" sz="2000" dirty="0" err="1"/>
              <a:t>Klik</a:t>
            </a:r>
            <a:r>
              <a:rPr lang="en-US" sz="2000" dirty="0"/>
              <a:t> New Rule.</a:t>
            </a:r>
          </a:p>
          <a:p>
            <a:pPr marL="457200" indent="-457200">
              <a:buAutoNum type="arabicPeriod"/>
            </a:pPr>
            <a:r>
              <a:rPr lang="en-US" sz="2000" dirty="0" err="1"/>
              <a:t>Pilih</a:t>
            </a:r>
            <a:r>
              <a:rPr lang="en-US" sz="2000" dirty="0"/>
              <a:t> use a formula to determine which cell to format, </a:t>
            </a:r>
            <a:r>
              <a:rPr lang="en-US" sz="2000" dirty="0" err="1"/>
              <a:t>lalu</a:t>
            </a:r>
            <a:r>
              <a:rPr lang="en-US" sz="2000" dirty="0"/>
              <a:t> </a:t>
            </a:r>
            <a:r>
              <a:rPr lang="en-US" sz="2000" dirty="0" err="1"/>
              <a:t>ketikan</a:t>
            </a:r>
            <a:r>
              <a:rPr lang="en-US" sz="2000" dirty="0"/>
              <a:t> formula </a:t>
            </a:r>
            <a:r>
              <a:rPr lang="en-US" sz="2000" dirty="0" err="1"/>
              <a:t>seperti</a:t>
            </a:r>
            <a:r>
              <a:rPr lang="en-US" sz="2000" dirty="0"/>
              <a:t> </a:t>
            </a:r>
            <a:r>
              <a:rPr lang="en-US" sz="2000" dirty="0" err="1"/>
              <a:t>diatas</a:t>
            </a:r>
            <a:r>
              <a:rPr lang="en-US" sz="2000" dirty="0"/>
              <a:t>.</a:t>
            </a:r>
          </a:p>
          <a:p>
            <a:pPr marL="457200" indent="-457200">
              <a:buAutoNum type="arabicPeriod"/>
            </a:pPr>
            <a:r>
              <a:rPr lang="en-US" sz="2000" dirty="0" err="1"/>
              <a:t>Klik</a:t>
            </a:r>
            <a:r>
              <a:rPr lang="en-US" sz="2000" dirty="0"/>
              <a:t> format </a:t>
            </a:r>
            <a:r>
              <a:rPr lang="en-US" sz="2000" dirty="0" err="1"/>
              <a:t>lalu</a:t>
            </a:r>
            <a:r>
              <a:rPr lang="en-US" sz="2000" dirty="0"/>
              <a:t> fill, </a:t>
            </a:r>
            <a:r>
              <a:rPr lang="en-US" sz="2000" dirty="0" err="1"/>
              <a:t>lalu</a:t>
            </a:r>
            <a:r>
              <a:rPr lang="en-US" sz="2000" dirty="0"/>
              <a:t> </a:t>
            </a:r>
            <a:r>
              <a:rPr lang="en-US" sz="2000" dirty="0" err="1"/>
              <a:t>pilih</a:t>
            </a:r>
            <a:r>
              <a:rPr lang="en-US" sz="2000" dirty="0"/>
              <a:t> color </a:t>
            </a:r>
            <a:r>
              <a:rPr lang="en-US" sz="2000" dirty="0" err="1"/>
              <a:t>merah</a:t>
            </a:r>
            <a:r>
              <a:rPr lang="en-US" sz="2000" dirty="0"/>
              <a:t>, </a:t>
            </a:r>
            <a:r>
              <a:rPr lang="en-US" sz="2000" dirty="0" err="1"/>
              <a:t>lalu</a:t>
            </a:r>
            <a:r>
              <a:rPr lang="en-US" sz="2000" dirty="0"/>
              <a:t> </a:t>
            </a:r>
            <a:r>
              <a:rPr lang="en-US" sz="2000" dirty="0" err="1"/>
              <a:t>klik</a:t>
            </a:r>
            <a:r>
              <a:rPr lang="en-US" sz="2000" dirty="0"/>
              <a:t> ok </a:t>
            </a:r>
            <a:r>
              <a:rPr lang="en-US" sz="2000" dirty="0" err="1"/>
              <a:t>kembali</a:t>
            </a:r>
            <a:r>
              <a:rPr lang="en-US" sz="2000" dirty="0"/>
              <a:t> </a:t>
            </a:r>
            <a:r>
              <a:rPr lang="en-US" sz="2000" dirty="0" err="1"/>
              <a:t>dijendela</a:t>
            </a:r>
            <a:r>
              <a:rPr lang="en-US" sz="2000" dirty="0"/>
              <a:t> edit </a:t>
            </a:r>
            <a:r>
              <a:rPr lang="en-US" sz="2000" dirty="0" err="1"/>
              <a:t>formating</a:t>
            </a:r>
            <a:r>
              <a:rPr lang="en-US" sz="2000" dirty="0"/>
              <a:t> rule.</a:t>
            </a:r>
            <a:endParaRPr lang="en-ID" sz="2000" dirty="0"/>
          </a:p>
        </p:txBody>
      </p:sp>
      <p:pic>
        <p:nvPicPr>
          <p:cNvPr id="17" name="Picture 16">
            <a:extLst>
              <a:ext uri="{FF2B5EF4-FFF2-40B4-BE49-F238E27FC236}">
                <a16:creationId xmlns:a16="http://schemas.microsoft.com/office/drawing/2014/main" id="{0F1D0D8E-C9C8-6304-BD88-4C47F834FDCD}"/>
              </a:ext>
            </a:extLst>
          </p:cNvPr>
          <p:cNvPicPr>
            <a:picLocks noChangeAspect="1"/>
          </p:cNvPicPr>
          <p:nvPr/>
        </p:nvPicPr>
        <p:blipFill>
          <a:blip r:embed="rId6"/>
          <a:stretch>
            <a:fillRect/>
          </a:stretch>
        </p:blipFill>
        <p:spPr>
          <a:xfrm>
            <a:off x="2370728" y="2774835"/>
            <a:ext cx="1151633" cy="1165181"/>
          </a:xfrm>
          <a:prstGeom prst="rect">
            <a:avLst/>
          </a:prstGeom>
        </p:spPr>
      </p:pic>
      <p:sp>
        <p:nvSpPr>
          <p:cNvPr id="18" name="TextBox 17">
            <a:extLst>
              <a:ext uri="{FF2B5EF4-FFF2-40B4-BE49-F238E27FC236}">
                <a16:creationId xmlns:a16="http://schemas.microsoft.com/office/drawing/2014/main" id="{56252C19-207B-8364-5CAC-6A47A5274EC8}"/>
              </a:ext>
            </a:extLst>
          </p:cNvPr>
          <p:cNvSpPr txBox="1"/>
          <p:nvPr/>
        </p:nvSpPr>
        <p:spPr>
          <a:xfrm>
            <a:off x="1989729" y="2815136"/>
            <a:ext cx="381000" cy="369332"/>
          </a:xfrm>
          <a:prstGeom prst="rect">
            <a:avLst/>
          </a:prstGeom>
          <a:noFill/>
        </p:spPr>
        <p:txBody>
          <a:bodyPr wrap="square" rtlCol="0">
            <a:spAutoFit/>
          </a:bodyPr>
          <a:lstStyle/>
          <a:p>
            <a:r>
              <a:rPr lang="en-US" b="1" dirty="0"/>
              <a:t>2.</a:t>
            </a:r>
            <a:endParaRPr lang="en-ID" b="1" dirty="0"/>
          </a:p>
        </p:txBody>
      </p:sp>
      <p:sp>
        <p:nvSpPr>
          <p:cNvPr id="20" name="TextBox 19">
            <a:extLst>
              <a:ext uri="{FF2B5EF4-FFF2-40B4-BE49-F238E27FC236}">
                <a16:creationId xmlns:a16="http://schemas.microsoft.com/office/drawing/2014/main" id="{0AD8FEB7-79A1-D2A0-9B44-DC539DE5EBA3}"/>
              </a:ext>
            </a:extLst>
          </p:cNvPr>
          <p:cNvSpPr txBox="1"/>
          <p:nvPr/>
        </p:nvSpPr>
        <p:spPr>
          <a:xfrm>
            <a:off x="622300" y="1536700"/>
            <a:ext cx="381000" cy="369332"/>
          </a:xfrm>
          <a:prstGeom prst="rect">
            <a:avLst/>
          </a:prstGeom>
          <a:noFill/>
        </p:spPr>
        <p:txBody>
          <a:bodyPr wrap="square" rtlCol="0">
            <a:spAutoFit/>
          </a:bodyPr>
          <a:lstStyle/>
          <a:p>
            <a:r>
              <a:rPr lang="en-US" b="1" dirty="0"/>
              <a:t>1.</a:t>
            </a:r>
            <a:endParaRPr lang="en-ID" b="1" dirty="0"/>
          </a:p>
        </p:txBody>
      </p:sp>
      <p:sp>
        <p:nvSpPr>
          <p:cNvPr id="21" name="TextBox 20">
            <a:extLst>
              <a:ext uri="{FF2B5EF4-FFF2-40B4-BE49-F238E27FC236}">
                <a16:creationId xmlns:a16="http://schemas.microsoft.com/office/drawing/2014/main" id="{FFF31CA8-D2D2-974E-816E-A4555FF85BDB}"/>
              </a:ext>
            </a:extLst>
          </p:cNvPr>
          <p:cNvSpPr txBox="1"/>
          <p:nvPr/>
        </p:nvSpPr>
        <p:spPr>
          <a:xfrm rot="10800000" flipH="1" flipV="1">
            <a:off x="3872507" y="3748583"/>
            <a:ext cx="478728" cy="369332"/>
          </a:xfrm>
          <a:prstGeom prst="rect">
            <a:avLst/>
          </a:prstGeom>
          <a:noFill/>
        </p:spPr>
        <p:txBody>
          <a:bodyPr wrap="square" rtlCol="0">
            <a:spAutoFit/>
          </a:bodyPr>
          <a:lstStyle/>
          <a:p>
            <a:r>
              <a:rPr lang="en-US" b="1" dirty="0"/>
              <a:t>4.</a:t>
            </a:r>
            <a:endParaRPr lang="en-ID" b="1" dirty="0"/>
          </a:p>
        </p:txBody>
      </p:sp>
      <p:sp>
        <p:nvSpPr>
          <p:cNvPr id="22" name="TextBox 21">
            <a:extLst>
              <a:ext uri="{FF2B5EF4-FFF2-40B4-BE49-F238E27FC236}">
                <a16:creationId xmlns:a16="http://schemas.microsoft.com/office/drawing/2014/main" id="{6D43581B-19D9-D47B-D47B-6B07C9D16401}"/>
              </a:ext>
            </a:extLst>
          </p:cNvPr>
          <p:cNvSpPr txBox="1"/>
          <p:nvPr/>
        </p:nvSpPr>
        <p:spPr>
          <a:xfrm>
            <a:off x="1231900" y="4190508"/>
            <a:ext cx="381000" cy="369332"/>
          </a:xfrm>
          <a:prstGeom prst="rect">
            <a:avLst/>
          </a:prstGeom>
          <a:noFill/>
        </p:spPr>
        <p:txBody>
          <a:bodyPr wrap="square" rtlCol="0">
            <a:spAutoFit/>
          </a:bodyPr>
          <a:lstStyle/>
          <a:p>
            <a:r>
              <a:rPr lang="en-US" b="1" dirty="0"/>
              <a:t>3.</a:t>
            </a:r>
            <a:endParaRPr lang="en-ID" b="1" dirty="0"/>
          </a:p>
        </p:txBody>
      </p:sp>
      <p:sp>
        <p:nvSpPr>
          <p:cNvPr id="23" name="TextBox 22">
            <a:extLst>
              <a:ext uri="{FF2B5EF4-FFF2-40B4-BE49-F238E27FC236}">
                <a16:creationId xmlns:a16="http://schemas.microsoft.com/office/drawing/2014/main" id="{335224AC-D340-E577-5D0C-D09973226871}"/>
              </a:ext>
            </a:extLst>
          </p:cNvPr>
          <p:cNvSpPr txBox="1"/>
          <p:nvPr/>
        </p:nvSpPr>
        <p:spPr>
          <a:xfrm rot="10800000" flipH="1" flipV="1">
            <a:off x="8043558" y="1819466"/>
            <a:ext cx="478728" cy="369332"/>
          </a:xfrm>
          <a:prstGeom prst="rect">
            <a:avLst/>
          </a:prstGeom>
          <a:noFill/>
        </p:spPr>
        <p:txBody>
          <a:bodyPr wrap="square" rtlCol="0">
            <a:spAutoFit/>
          </a:bodyPr>
          <a:lstStyle/>
          <a:p>
            <a:r>
              <a:rPr lang="en-US" b="1" dirty="0"/>
              <a:t>5.</a:t>
            </a:r>
            <a:endParaRPr lang="en-ID" b="1" dirty="0"/>
          </a:p>
        </p:txBody>
      </p:sp>
      <p:sp>
        <p:nvSpPr>
          <p:cNvPr id="24" name="TextBox 23">
            <a:extLst>
              <a:ext uri="{FF2B5EF4-FFF2-40B4-BE49-F238E27FC236}">
                <a16:creationId xmlns:a16="http://schemas.microsoft.com/office/drawing/2014/main" id="{B6B61CFB-2AE0-5883-DA6E-55C9DB5891C9}"/>
              </a:ext>
            </a:extLst>
          </p:cNvPr>
          <p:cNvSpPr txBox="1"/>
          <p:nvPr/>
        </p:nvSpPr>
        <p:spPr>
          <a:xfrm>
            <a:off x="6002878" y="358417"/>
            <a:ext cx="2519408" cy="646331"/>
          </a:xfrm>
          <a:prstGeom prst="rect">
            <a:avLst/>
          </a:prstGeom>
          <a:noFill/>
        </p:spPr>
        <p:txBody>
          <a:bodyPr wrap="none" rtlCol="0">
            <a:spAutoFit/>
          </a:bodyPr>
          <a:lstStyle/>
          <a:p>
            <a:r>
              <a:rPr lang="en-US" sz="3600" b="1" dirty="0">
                <a:solidFill>
                  <a:schemeClr val="accent4">
                    <a:lumMod val="75000"/>
                  </a:schemeClr>
                </a:solidFill>
              </a:rPr>
              <a:t>STUDY CASE</a:t>
            </a:r>
          </a:p>
        </p:txBody>
      </p:sp>
    </p:spTree>
    <p:extLst>
      <p:ext uri="{BB962C8B-B14F-4D97-AF65-F5344CB8AC3E}">
        <p14:creationId xmlns:p14="http://schemas.microsoft.com/office/powerpoint/2010/main" val="1510059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B9D79402-1209-30BB-2906-4EB5CA267A54}"/>
              </a:ext>
            </a:extLst>
          </p:cNvPr>
          <p:cNvSpPr txBox="1"/>
          <p:nvPr/>
        </p:nvSpPr>
        <p:spPr>
          <a:xfrm>
            <a:off x="3996661" y="3670300"/>
            <a:ext cx="7119677" cy="2442976"/>
          </a:xfrm>
          <a:prstGeom prst="rect">
            <a:avLst/>
          </a:prstGeom>
        </p:spPr>
        <p:txBody>
          <a:bodyPr wrap="square" lIns="0" tIns="0" rIns="0" bIns="0" rtlCol="0" anchor="t">
            <a:spAutoFit/>
          </a:bodyPr>
          <a:lstStyle/>
          <a:p>
            <a:pPr algn="ctr">
              <a:lnSpc>
                <a:spcPts val="18617"/>
              </a:lnSpc>
              <a:spcBef>
                <a:spcPct val="0"/>
              </a:spcBef>
            </a:pPr>
            <a:r>
              <a:rPr lang="en-US" sz="17000" b="1" dirty="0">
                <a:solidFill>
                  <a:srgbClr val="67678B"/>
                </a:solidFill>
                <a:latin typeface="Jimmy Script"/>
                <a:ea typeface="Jimmy Script"/>
                <a:cs typeface="Jimmy Script"/>
                <a:sym typeface="Jimmy Script"/>
              </a:rPr>
              <a:t>Thanks</a:t>
            </a:r>
          </a:p>
        </p:txBody>
      </p:sp>
    </p:spTree>
    <p:extLst>
      <p:ext uri="{BB962C8B-B14F-4D97-AF65-F5344CB8AC3E}">
        <p14:creationId xmlns:p14="http://schemas.microsoft.com/office/powerpoint/2010/main" val="4129610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606</Words>
  <Application>Microsoft Office PowerPoint</Application>
  <PresentationFormat>Kustom</PresentationFormat>
  <Paragraphs>65</Paragraphs>
  <Slides>7</Slides>
  <Notes>1</Notes>
  <HiddenSlides>0</HiddenSlides>
  <MMClips>0</MMClips>
  <ScaleCrop>false</ScaleCrop>
  <HeadingPairs>
    <vt:vector size="4" baseType="variant">
      <vt:variant>
        <vt:lpstr>Tema</vt:lpstr>
      </vt:variant>
      <vt:variant>
        <vt:i4>1</vt:i4>
      </vt:variant>
      <vt:variant>
        <vt:lpstr>Judul Slide</vt:lpstr>
      </vt:variant>
      <vt:variant>
        <vt:i4>7</vt:i4>
      </vt:variant>
    </vt:vector>
  </HeadingPairs>
  <TitlesOfParts>
    <vt:vector size="8" baseType="lpstr">
      <vt:lpstr>Office Theme</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Minimalist Creative Portfolio Resume</dc:title>
  <dc:creator>pakuy</dc:creator>
  <cp:lastModifiedBy>Yahya Ppakuy</cp:lastModifiedBy>
  <cp:revision>38</cp:revision>
  <dcterms:created xsi:type="dcterms:W3CDTF">2006-08-16T00:00:00Z</dcterms:created>
  <dcterms:modified xsi:type="dcterms:W3CDTF">2026-01-20T06:10:27Z</dcterms:modified>
  <dc:identifier>DAGvmowKBbQ</dc:identifier>
</cp:coreProperties>
</file>